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calmly. ~6 minutes total: ~3:45 on the paper, ~2:15 on my own idea. I walk the paper through nine steps like a story, then tell my own idea in the same nine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keeps the talk structured. It shows the examiner I am using the course's study-design vocabulary as a backbone.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[0:00–0:45] Hello. My paper is ProgramAlly, from UIST 2024. The goal is simple. Today, blind people use apps like Seeing AI. These apps read out everything in a photo. That is slow. And it is a heavy load when you only want one small thing. The authors call this the long-tail. There are many needs that no fixed app can cover. So the idea is: let the blind person build their own filter. For example, a program that says find the number on the bus. It only tells you what you ask for. This brings the do-it-yourself idea to assistive software. And it treats blind users as experts in their own tools.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[0:45–1:35] Next, the worldview and method. This is an interpretivist study. They want to understand how blind people think and work. They do not want to prove a law. A strong sign of this: they chose not to measure task completion time. They say it would not be useful, because people thought aloud and took their time. So they report mainly qualitative data. This is a qualitative usability study of a system. It is not an experiment. There is no controlled comparison. There is no control group. There is no significance test. There is only a thin layer of numbers: simple ratings and rankings. The setting is mixed. Some sessions were remote on Zoom. Some were in person with real objects. Each session was one-off, about two hours.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[1:35–2:25] Now the design. Every program uses one simple grammar. Find an item, on another item. There are only two operators: find and on. You can add an adjective: color, size, or location. The authors honestly call these naive. They are just a proof of concept. The clever part is multi-modal creation. There are three ways to build the same program. Block mode uses touch, like fill-in-the-blank. Question mode uses speech or text, and GPT-4 turns your words into a program. Explore mode uses the camera. It shows what it sees, and you pick one thing as an example. All three land in the same block editor, where you review and fix. Three design goals guide it all: expressiveness, approachability, and accessibility with VoiceOver and Braille.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[2:25–3:05] Who took part, and what did they do. Twelve blind adults. They were paid twenty-five dollars an hour. Only two of the twelve had ever programmed. So this is a fair test of non-experts. The group was mixed. Two were assistive-tech professionals. One was new to VoiceOver. They were recruited through accessibility groups and word of mouth. All used a screen reader and owned an iPhone, to install the app via TestFlight. The procedure was the same for everyone. First an interview. Then they read a ready-made program. Then they added an adjective as a warm-up. Then they built and ran three programs, one with each mode. They thought aloud while building. Remote users tested on images. In-person users tested on real props. Then they rated and ranked the three modes.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[3:05–3:45] The data and findings. The data is mostly qualitative: think-aloud and interviews, grouped into themes. Plus simple ratings and rankings in Figure 5. The headline result is clear. No single mode won. People picked a mode based on the task, the setting, and their own experience. Question mode was easiest. Block mode felt the most accurate, but it was the hardest to learn. Explore mode was best for discovering what is around you. Their own filters beat Seeing AI, which kept reading and reading. And they beat Be My AI when it was hard to frame a single photo. A key new finding: the unknown-unknowns. You cannot filter for something if you do not know it is there.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[3:45–4:15] What are the design lessons, and what kind of paper is this. First lesson: offer several ways to build, because no one mode is best. Second: send every generated program into one editor users can fix. Third: help people discover what is there, the unknown-unknowns. Fourth: balance specific filters against reusable ones. On contribution type, this is mainly an artifact contribution. They built a new system and a new, general filter representation. We judge it by what it makes newly possible. Building a system is not the same as studying one. The secondary contribution is empirical: the study of twelve blind users, which reveals real challenges for blind end-user programmers.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[3:45–4:20] Now my own idea. The paper's strength is expressiveness. Blind users can build very specific filters. But there are two real costs. One participant said: people are not developers, why spend five hours to tinker with a program? That is the do-it-yourself burden. Second, even after you build filters, you must manage a library. And you must remember to launch the right one at the right moment. That hurts approachability and efficiency. It hurts exactly the fast and repeated tasks the paper cares about. So my goal is context-aware auto-triggering. The right saved filter starts by itself. But I keep the user in control. Every trigger is a suggestion you confirm, never silent. The paper itself suggests this: start the bus filter when you reach a bus stop.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[4:20–4:55] Here is the design. I add a trigger to any saved filter. The trigger can be a location, like a bus stop. It can be a time. Or it can be an object appearing in the camera, like a package entering the frame. I do not invent a new screen. I reuse the block editor, the paper's shared editing place. I just add one new block: when this happens, run this filter. When a trigger fires, the app gives a gentle spoken or Braille prompt: a bus stop is near, run your bus filter? The user confirms. This lowers interaction cost. And it helps people discover which saved filter fits right now. Confirm-to-run keeps the user in control. So the system stays a supplement to human intent, not a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[4:55–5:30] My study walks the same nine steps. Goal: does auto-triggering cut the burden without losing control or trust. Worldview: interpretivist-led, like the paper, but I add a few behaviour counts. Design: a light within-subjects comparison of manual launch versus auto-trigger, not a strict experiment. Setting and time: this is the big fix. I go in-the-wild for two weeks, longitudinal, because the paper was one single lab session. Design details: pre-built triggered filters for bus, mail, and grocery, with confirm-to-run, accessible by VoiceOver and Braille. Participants: twelve to sixteen blind screen-reader users, recruited like the paper. Procedure: set triggers, live two weeks, a short prompt after each trigger, then an exit interview. Data: mostly diary and interview, plus logs of accepts and dismisses, and an effort rating. Analysis: I group the talk into qualitative themes on trust and burden, with simple descriptive rates.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Invite questions. Backup slides follow: classification cheat-sheet, weaknesses, contexts of use, terminology, and Q&amp;A one-liners.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reference if asked to classify the study on any axis.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[4:15–4:50] Now the weaknesses, strongest first. First, the sample is small and self-selected. Only twelve people, found by snowball sampling. They are likely motivated and tech-comfortable, so we should be careful about generalising. But remember: this is interpretivist, so a small n is acceptable. We judge it on credibility and transferability, not statistical power. Second, there are no performance numbers. Task time was left out on purpose. And accuracy is only what users felt, not measured against the truth. Third, the pilot users were merged in, even though the first two only used block mode. Fourth, it is a single lab or remote session with props, not real-world use, so ecological validity is limited. Finally, the adjectives are admittedly naive, and Explore mode is restricted to two operators.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[4:50–5:25] Finally, the five ISO contexts of use, and accessibility. Physical: the key factor is the user's body. These users are blind or low-vision, and aiming a camera without sight is hard. Temporal: some tasks are time-sensitive, like catching a bus, which favours fast creation or saved filters. Task: this is often a secondary, background task done while moving, and repetitive, like sorting mail. Social: spoken output can leak to others nearby, so Braille gives a private channel. Technical: it runs on an iPhone, with on-device models and some cloud models, so Explore mode needs a network. On accessibility, the impairment is permanent. But by the persona spectrum, solve for one, extend to many. The filtering idea also helps situational impairment: anyone who wants one fact from a cluttered scene.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[5:30–5:50] Quick terms. End-user programming means non-programmers build their own tools. Here blind users are domain experts. A filtering program crops the camera so you hear only what you want. Multi-modal creation means three ways to build the same program: block by touch, question by speech, explore by camera. Unknown-unknowns means you cannot ask for what you do not know is there. On contribution type, this is mainly an artifact paper, with the user study as secondary empirical evidence. Because it is qualitative, we judge it by trustworthiness, not internal validity. And on the inclusive design spectrum, the users have a permanent impairment, but filtering also helps temporary and situational cases.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[5:50–6:15] Finally, one line per theme. Mobile challenge: aiming a camera blind is hard, so my live trigger keeps the feed running instead of one photo. Design principle: keep the user in control, confirm before running. Modalities: the paper uses touch, speech, and camera; I add context as a trigger, and output stays audio plus Braille. Interaction qualities: the paper raises expressiveness; I raise approachability, efficiency, and discoverability. Context of use: my triggers are literally driven by location, time, and objects. Data and methods: I add a real-world diary and trigger logs to the paper's qualitative core. Study design: I move from a one-off lab session to a two-week field study, judged on trust and burden.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280160"/>
            <a:ext cx="10058400" cy="457200"/>
          </a:xfrm>
          <a:prstGeom prst="rect">
            <a:avLst/>
          </a:prstGeom>
          <a:noFill/>
        </p:spPr>
        <p:txBody>
          <a:bodyPr wrap="none">
            <a:spAutoFit/>
          </a:bodyPr>
          <a:lstStyle/>
          <a:p>
            <a:r>
              <a:rPr sz="1500" b="1">
                <a:solidFill>
                  <a:srgbClr val="22D3EE"/>
                </a:solidFill>
                <a:latin typeface="Calibri"/>
              </a:rPr>
              <a:t>MOBILE HCI · ORAL EXAM</a:t>
            </a:r>
          </a:p>
        </p:txBody>
      </p:sp>
      <p:sp>
        <p:nvSpPr>
          <p:cNvPr id="4" name="TextBox 3"/>
          <p:cNvSpPr txBox="1"/>
          <p:nvPr/>
        </p:nvSpPr>
        <p:spPr>
          <a:xfrm>
            <a:off x="640080" y="1828800"/>
            <a:ext cx="10972800" cy="2377440"/>
          </a:xfrm>
          <a:prstGeom prst="rect">
            <a:avLst/>
          </a:prstGeom>
          <a:noFill/>
        </p:spPr>
        <p:txBody>
          <a:bodyPr wrap="square">
            <a:spAutoFit/>
          </a:bodyPr>
          <a:lstStyle/>
          <a:p>
            <a:r>
              <a:rPr sz="3800" b="1">
                <a:solidFill>
                  <a:srgbClr val="E7ECF3"/>
                </a:solidFill>
                <a:latin typeface="Calibri"/>
              </a:rPr>
              <a:t>ProgramAlly</a:t>
            </a:r>
          </a:p>
          <a:p>
            <a:r>
              <a:rPr sz="2000">
                <a:solidFill>
                  <a:srgbClr val="B6BFCF"/>
                </a:solidFill>
                <a:latin typeface="Calibri"/>
              </a:rPr>
              <a:t>Creating Custom Visual Access Programs via Multi-Modal End-User Programming</a:t>
            </a:r>
          </a:p>
        </p:txBody>
      </p:sp>
      <p:sp>
        <p:nvSpPr>
          <p:cNvPr id="5" name="Rectangle 4"/>
          <p:cNvSpPr/>
          <p:nvPr/>
        </p:nvSpPr>
        <p:spPr>
          <a:xfrm>
            <a:off x="658368" y="4526280"/>
            <a:ext cx="182880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4663440"/>
            <a:ext cx="10972800" cy="1097280"/>
          </a:xfrm>
          <a:prstGeom prst="rect">
            <a:avLst/>
          </a:prstGeom>
          <a:noFill/>
        </p:spPr>
        <p:txBody>
          <a:bodyPr wrap="none">
            <a:spAutoFit/>
          </a:bodyPr>
          <a:lstStyle/>
          <a:p>
            <a:r>
              <a:rPr sz="1600">
                <a:solidFill>
                  <a:srgbClr val="E7ECF3"/>
                </a:solidFill>
                <a:latin typeface="Calibri"/>
              </a:rPr>
              <a:t>Jaylin Herskovitz, Andi Xu, Rahaf Alharbi, Anhong Guo — University of Michigan — UIST '24 (37th ACM Symposium on User Interface Software and Technology), Pittsburgh, Oct 2024</a:t>
            </a:r>
          </a:p>
          <a:p>
            <a:r>
              <a:rPr sz="1400" i="1">
                <a:solidFill>
                  <a:srgbClr val="778295"/>
                </a:solidFill>
                <a:latin typeface="Calibri"/>
              </a:rPr>
              <a:t>Lecture 9 — Accessibility (Artifact + Empirical)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How I'll walk through it</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197864"/>
            <a:ext cx="10972800" cy="457200"/>
          </a:xfrm>
          <a:prstGeom prst="rect">
            <a:avLst/>
          </a:prstGeom>
          <a:noFill/>
        </p:spPr>
        <p:txBody>
          <a:bodyPr wrap="none">
            <a:spAutoFit/>
          </a:bodyPr>
          <a:lstStyle/>
          <a:p>
            <a:r>
              <a:rPr sz="1400" i="1">
                <a:solidFill>
                  <a:srgbClr val="778295"/>
                </a:solidFill>
                <a:latin typeface="Calibri"/>
              </a:rPr>
              <a:t>Nine steps, like a story — then design ideas, then my own idea in the same steps</a:t>
            </a:r>
          </a:p>
        </p:txBody>
      </p:sp>
      <p:sp>
        <p:nvSpPr>
          <p:cNvPr id="8" name="TextBox 7"/>
          <p:cNvSpPr txBox="1"/>
          <p:nvPr/>
        </p:nvSpPr>
        <p:spPr>
          <a:xfrm>
            <a:off x="640080" y="1737360"/>
            <a:ext cx="10972800" cy="4572000"/>
          </a:xfrm>
          <a:prstGeom prst="rect">
            <a:avLst/>
          </a:prstGeom>
          <a:noFill/>
        </p:spPr>
        <p:txBody>
          <a:bodyPr wrap="square">
            <a:spAutoFit/>
          </a:bodyPr>
          <a:lstStyle/>
          <a:p>
            <a:pPr>
              <a:spcAft>
                <a:spcPts val="1600"/>
              </a:spcAft>
            </a:pPr>
            <a:r>
              <a:rPr sz="2200">
                <a:solidFill>
                  <a:srgbClr val="7C6CFF"/>
                </a:solidFill>
                <a:latin typeface="Calibri"/>
              </a:rPr>
              <a:t>▸  </a:t>
            </a:r>
            <a:r>
              <a:rPr sz="2200" b="1">
                <a:solidFill>
                  <a:srgbClr val="22D3EE"/>
                </a:solidFill>
                <a:latin typeface="Calibri"/>
              </a:rPr>
              <a:t>Goal</a:t>
            </a:r>
            <a:r>
              <a:rPr sz="2200" b="0">
                <a:solidFill>
                  <a:srgbClr val="E7ECF3"/>
                </a:solidFill>
                <a:latin typeface="Calibri"/>
              </a:rPr>
              <a:t> → </a:t>
            </a:r>
            <a:r>
              <a:rPr sz="2200" b="1">
                <a:solidFill>
                  <a:srgbClr val="22D3EE"/>
                </a:solidFill>
                <a:latin typeface="Calibri"/>
              </a:rPr>
              <a:t>Worldview</a:t>
            </a:r>
            <a:r>
              <a:rPr sz="2200" b="0">
                <a:solidFill>
                  <a:srgbClr val="E7ECF3"/>
                </a:solidFill>
                <a:latin typeface="Calibri"/>
              </a:rPr>
              <a:t> → </a:t>
            </a:r>
            <a:r>
              <a:rPr sz="2200" b="1">
                <a:solidFill>
                  <a:srgbClr val="22D3EE"/>
                </a:solidFill>
                <a:latin typeface="Calibri"/>
              </a:rPr>
              <a:t>Method</a:t>
            </a:r>
            <a:r>
              <a:rPr sz="2200" b="0">
                <a:solidFill>
                  <a:srgbClr val="E7ECF3"/>
                </a:solidFill>
                <a:latin typeface="Calibri"/>
              </a:rPr>
              <a:t> → </a:t>
            </a:r>
            <a:r>
              <a:rPr sz="2200" b="1">
                <a:solidFill>
                  <a:srgbClr val="22D3EE"/>
                </a:solidFill>
                <a:latin typeface="Calibri"/>
              </a:rPr>
              <a:t>Setting + Time</a:t>
            </a:r>
          </a:p>
          <a:p>
            <a:pPr>
              <a:spcAft>
                <a:spcPts val="1600"/>
              </a:spcAft>
            </a:pPr>
            <a:r>
              <a:rPr sz="2200">
                <a:solidFill>
                  <a:srgbClr val="7C6CFF"/>
                </a:solidFill>
                <a:latin typeface="Calibri"/>
              </a:rPr>
              <a:t>▸  </a:t>
            </a:r>
            <a:r>
              <a:rPr sz="2200" b="1">
                <a:solidFill>
                  <a:srgbClr val="22D3EE"/>
                </a:solidFill>
                <a:latin typeface="Calibri"/>
              </a:rPr>
              <a:t>Design</a:t>
            </a:r>
            <a:r>
              <a:rPr sz="2200" b="0">
                <a:solidFill>
                  <a:srgbClr val="E7ECF3"/>
                </a:solidFill>
                <a:latin typeface="Calibri"/>
              </a:rPr>
              <a:t> → </a:t>
            </a:r>
            <a:r>
              <a:rPr sz="2200" b="1">
                <a:solidFill>
                  <a:srgbClr val="22D3EE"/>
                </a:solidFill>
                <a:latin typeface="Calibri"/>
              </a:rPr>
              <a:t>Participants</a:t>
            </a:r>
            <a:r>
              <a:rPr sz="2200" b="0">
                <a:solidFill>
                  <a:srgbClr val="E7ECF3"/>
                </a:solidFill>
                <a:latin typeface="Calibri"/>
              </a:rPr>
              <a:t> → </a:t>
            </a:r>
            <a:r>
              <a:rPr sz="2200" b="1">
                <a:solidFill>
                  <a:srgbClr val="22D3EE"/>
                </a:solidFill>
                <a:latin typeface="Calibri"/>
              </a:rPr>
              <a:t>Procedure</a:t>
            </a:r>
          </a:p>
          <a:p>
            <a:pPr>
              <a:spcAft>
                <a:spcPts val="1600"/>
              </a:spcAft>
            </a:pPr>
            <a:r>
              <a:rPr sz="2200">
                <a:solidFill>
                  <a:srgbClr val="7C6CFF"/>
                </a:solidFill>
                <a:latin typeface="Calibri"/>
              </a:rPr>
              <a:t>▸  </a:t>
            </a:r>
            <a:r>
              <a:rPr sz="2200" b="1">
                <a:solidFill>
                  <a:srgbClr val="22D3EE"/>
                </a:solidFill>
                <a:latin typeface="Calibri"/>
              </a:rPr>
              <a:t>Data</a:t>
            </a:r>
            <a:r>
              <a:rPr sz="2200" b="0">
                <a:solidFill>
                  <a:srgbClr val="E7ECF3"/>
                </a:solidFill>
                <a:latin typeface="Calibri"/>
              </a:rPr>
              <a:t> → </a:t>
            </a:r>
            <a:r>
              <a:rPr sz="2200" b="1">
                <a:solidFill>
                  <a:srgbClr val="22D3EE"/>
                </a:solidFill>
                <a:latin typeface="Calibri"/>
              </a:rPr>
              <a:t>Analysis + Findings</a:t>
            </a:r>
          </a:p>
          <a:p>
            <a:pPr>
              <a:spcAft>
                <a:spcPts val="1600"/>
              </a:spcAft>
            </a:pPr>
            <a:r>
              <a:rPr sz="2200">
                <a:solidFill>
                  <a:srgbClr val="7C6CFF"/>
                </a:solidFill>
                <a:latin typeface="Calibri"/>
              </a:rPr>
              <a:t>▸  </a:t>
            </a:r>
            <a:r>
              <a:rPr sz="2200" b="0">
                <a:solidFill>
                  <a:srgbClr val="E7ECF3"/>
                </a:solidFill>
                <a:latin typeface="Calibri"/>
              </a:rPr>
              <a:t>Then: </a:t>
            </a:r>
            <a:r>
              <a:rPr sz="2200" b="1">
                <a:solidFill>
                  <a:srgbClr val="22D3EE"/>
                </a:solidFill>
                <a:latin typeface="Calibri"/>
              </a:rPr>
              <a:t>design implications</a:t>
            </a:r>
            <a:r>
              <a:rPr sz="2200" b="0">
                <a:solidFill>
                  <a:srgbClr val="E7ECF3"/>
                </a:solidFill>
                <a:latin typeface="Calibri"/>
              </a:rPr>
              <a:t> + </a:t>
            </a:r>
            <a:r>
              <a:rPr sz="2200" b="1">
                <a:solidFill>
                  <a:srgbClr val="22D3EE"/>
                </a:solidFill>
                <a:latin typeface="Calibri"/>
              </a:rPr>
              <a:t>contribution type</a:t>
            </a:r>
          </a:p>
          <a:p>
            <a:pPr>
              <a:spcAft>
                <a:spcPts val="1600"/>
              </a:spcAft>
            </a:pPr>
            <a:r>
              <a:rPr sz="2200">
                <a:solidFill>
                  <a:srgbClr val="7C6CFF"/>
                </a:solidFill>
                <a:latin typeface="Calibri"/>
              </a:rPr>
              <a:t>▸  </a:t>
            </a:r>
            <a:r>
              <a:rPr sz="2200" b="0">
                <a:solidFill>
                  <a:srgbClr val="E7ECF3"/>
                </a:solidFill>
                <a:latin typeface="Calibri"/>
              </a:rPr>
              <a:t>Then: </a:t>
            </a:r>
            <a:r>
              <a:rPr sz="2200" b="1">
                <a:solidFill>
                  <a:srgbClr val="22D3EE"/>
                </a:solidFill>
                <a:latin typeface="Calibri"/>
              </a:rPr>
              <a:t>my own idea</a:t>
            </a:r>
            <a:r>
              <a:rPr sz="2200" b="0">
                <a:solidFill>
                  <a:srgbClr val="E7ECF3"/>
                </a:solidFill>
                <a:latin typeface="Calibri"/>
              </a:rPr>
              <a:t> — told in the same 9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2377440"/>
            <a:ext cx="12191695" cy="210312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97480"/>
            <a:ext cx="10515600" cy="1280160"/>
          </a:xfrm>
          <a:prstGeom prst="rect">
            <a:avLst/>
          </a:prstGeom>
          <a:noFill/>
        </p:spPr>
        <p:txBody>
          <a:bodyPr wrap="square">
            <a:spAutoFit/>
          </a:bodyPr>
          <a:lstStyle/>
          <a:p>
            <a:r>
              <a:rPr sz="3800" b="1">
                <a:solidFill>
                  <a:srgbClr val="E7ECF3"/>
                </a:solidFill>
                <a:latin typeface="Calibri"/>
              </a:rPr>
              <a:t>THE PAPER</a:t>
            </a:r>
          </a:p>
          <a:p>
            <a:r>
              <a:rPr sz="1600">
                <a:solidFill>
                  <a:srgbClr val="22D3EE"/>
                </a:solidFill>
                <a:latin typeface="Calibri"/>
              </a:rPr>
              <a:t>Jaylin Herskovitz et al.    ·    ≈ 3:45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2</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1 · Goal: let blind people filter what the camera sees</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1000"/>
              </a:spcAft>
            </a:pPr>
            <a:r>
              <a:rPr sz="1600">
                <a:solidFill>
                  <a:srgbClr val="7C6CFF"/>
                </a:solidFill>
                <a:latin typeface="Calibri"/>
              </a:rPr>
              <a:t>▸  </a:t>
            </a:r>
            <a:r>
              <a:rPr sz="1600" b="0">
                <a:solidFill>
                  <a:srgbClr val="E7ECF3"/>
                </a:solidFill>
                <a:latin typeface="Calibri"/>
              </a:rPr>
              <a:t>Apps like Seeing AI or Be My AI describe </a:t>
            </a:r>
            <a:r>
              <a:rPr sz="1600" b="1">
                <a:solidFill>
                  <a:srgbClr val="22D3EE"/>
                </a:solidFill>
                <a:latin typeface="Calibri"/>
              </a:rPr>
              <a:t>everything</a:t>
            </a:r>
            <a:r>
              <a:rPr sz="1600" b="0">
                <a:solidFill>
                  <a:srgbClr val="E7ECF3"/>
                </a:solidFill>
                <a:latin typeface="Calibri"/>
              </a:rPr>
              <a:t> — slow, heavy </a:t>
            </a:r>
            <a:r>
              <a:rPr sz="1600" b="1">
                <a:solidFill>
                  <a:srgbClr val="22D3EE"/>
                </a:solidFill>
                <a:latin typeface="Calibri"/>
              </a:rPr>
              <a:t>cognitive burden</a:t>
            </a:r>
          </a:p>
          <a:p>
            <a:pPr>
              <a:spcAft>
                <a:spcPts val="1000"/>
              </a:spcAft>
            </a:pPr>
            <a:r>
              <a:rPr sz="1600">
                <a:solidFill>
                  <a:srgbClr val="7C6CFF"/>
                </a:solidFill>
                <a:latin typeface="Calibri"/>
              </a:rPr>
              <a:t>▸  </a:t>
            </a:r>
            <a:r>
              <a:rPr sz="1600" b="0">
                <a:solidFill>
                  <a:srgbClr val="E7ECF3"/>
                </a:solidFill>
                <a:latin typeface="Calibri"/>
              </a:rPr>
              <a:t>Prior work found a </a:t>
            </a:r>
            <a:r>
              <a:rPr sz="1600" b="1">
                <a:solidFill>
                  <a:srgbClr val="22D3EE"/>
                </a:solidFill>
                <a:latin typeface="Calibri"/>
              </a:rPr>
              <a:t>long-tail</a:t>
            </a:r>
            <a:r>
              <a:rPr sz="1600" b="0">
                <a:solidFill>
                  <a:srgbClr val="E7ECF3"/>
                </a:solidFill>
                <a:latin typeface="Calibri"/>
              </a:rPr>
              <a:t> of needs that fixed tools cannot cover</a:t>
            </a:r>
          </a:p>
          <a:p>
            <a:pPr>
              <a:spcAft>
                <a:spcPts val="1000"/>
              </a:spcAft>
            </a:pPr>
            <a:r>
              <a:rPr sz="1600">
                <a:solidFill>
                  <a:srgbClr val="7C6CFF"/>
                </a:solidFill>
                <a:latin typeface="Calibri"/>
              </a:rPr>
              <a:t>▸  </a:t>
            </a:r>
            <a:r>
              <a:rPr sz="1600" b="0">
                <a:solidFill>
                  <a:srgbClr val="E7ECF3"/>
                </a:solidFill>
                <a:latin typeface="Calibri"/>
              </a:rPr>
              <a:t>Goal: blind users </a:t>
            </a:r>
            <a:r>
              <a:rPr sz="1600" b="1">
                <a:solidFill>
                  <a:srgbClr val="22D3EE"/>
                </a:solidFill>
                <a:latin typeface="Calibri"/>
              </a:rPr>
              <a:t>create their own</a:t>
            </a:r>
            <a:r>
              <a:rPr sz="1600" b="0">
                <a:solidFill>
                  <a:srgbClr val="E7ECF3"/>
                </a:solidFill>
                <a:latin typeface="Calibri"/>
              </a:rPr>
              <a:t> reusable </a:t>
            </a:r>
            <a:r>
              <a:rPr sz="1600" b="1">
                <a:solidFill>
                  <a:srgbClr val="22D3EE"/>
                </a:solidFill>
                <a:latin typeface="Calibri"/>
              </a:rPr>
              <a:t>visual filtering programs</a:t>
            </a:r>
            <a:r>
              <a:rPr sz="1600" b="0">
                <a:solidFill>
                  <a:srgbClr val="E7ECF3"/>
                </a:solidFill>
                <a:latin typeface="Calibri"/>
              </a:rPr>
              <a:t>, e.g. `find NUMBER on BUS`</a:t>
            </a:r>
          </a:p>
          <a:p>
            <a:pPr>
              <a:spcAft>
                <a:spcPts val="1000"/>
              </a:spcAft>
            </a:pPr>
            <a:r>
              <a:rPr sz="1600">
                <a:solidFill>
                  <a:srgbClr val="7C6CFF"/>
                </a:solidFill>
                <a:latin typeface="Calibri"/>
              </a:rPr>
              <a:t>▸  </a:t>
            </a:r>
            <a:r>
              <a:rPr sz="1600" b="0">
                <a:solidFill>
                  <a:srgbClr val="E7ECF3"/>
                </a:solidFill>
                <a:latin typeface="Calibri"/>
              </a:rPr>
              <a:t>Bring </a:t>
            </a:r>
            <a:r>
              <a:rPr sz="1600" b="1">
                <a:solidFill>
                  <a:srgbClr val="22D3EE"/>
                </a:solidFill>
                <a:latin typeface="Calibri"/>
              </a:rPr>
              <a:t>DIY assistive tech</a:t>
            </a:r>
            <a:r>
              <a:rPr sz="1600" b="0">
                <a:solidFill>
                  <a:srgbClr val="E7ECF3"/>
                </a:solidFill>
                <a:latin typeface="Calibri"/>
              </a:rPr>
              <a:t> and </a:t>
            </a:r>
            <a:r>
              <a:rPr sz="1600" b="1">
                <a:solidFill>
                  <a:srgbClr val="22D3EE"/>
                </a:solidFill>
                <a:latin typeface="Calibri"/>
              </a:rPr>
              <a:t>end-user programming</a:t>
            </a:r>
            <a:r>
              <a:rPr sz="1600" b="0">
                <a:solidFill>
                  <a:srgbClr val="E7ECF3"/>
                </a:solidFill>
                <a:latin typeface="Calibri"/>
              </a:rPr>
              <a:t> to assistive </a:t>
            </a:r>
            <a:r>
              <a:rPr sz="1600" b="1">
                <a:solidFill>
                  <a:srgbClr val="22D3EE"/>
                </a:solidFill>
                <a:latin typeface="Calibri"/>
              </a:rPr>
              <a:t>software</a:t>
            </a:r>
          </a:p>
          <a:p>
            <a:pPr>
              <a:spcAft>
                <a:spcPts val="1000"/>
              </a:spcAft>
            </a:pPr>
            <a:r>
              <a:rPr sz="1600">
                <a:solidFill>
                  <a:srgbClr val="7C6CFF"/>
                </a:solidFill>
                <a:latin typeface="Calibri"/>
              </a:rPr>
              <a:t>▸  </a:t>
            </a:r>
            <a:r>
              <a:rPr sz="1600" b="0">
                <a:solidFill>
                  <a:srgbClr val="E7ECF3"/>
                </a:solidFill>
                <a:latin typeface="Calibri"/>
              </a:rPr>
              <a:t>Blind users framed as </a:t>
            </a:r>
            <a:r>
              <a:rPr sz="1600" b="1">
                <a:solidFill>
                  <a:srgbClr val="22D3EE"/>
                </a:solidFill>
                <a:latin typeface="Calibri"/>
              </a:rPr>
              <a:t>domain experts</a:t>
            </a:r>
            <a:r>
              <a:rPr sz="1600" b="0">
                <a:solidFill>
                  <a:srgbClr val="E7ECF3"/>
                </a:solidFill>
                <a:latin typeface="Calibri"/>
              </a:rPr>
              <a:t> in their own assistive tech</a:t>
            </a:r>
          </a:p>
        </p:txBody>
      </p:sp>
      <p:sp>
        <p:nvSpPr>
          <p:cNvPr id="8" name="Rounded Rectangle 7"/>
          <p:cNvSpPr/>
          <p:nvPr/>
        </p:nvSpPr>
        <p:spPr>
          <a:xfrm>
            <a:off x="640080" y="5029200"/>
            <a:ext cx="10881360" cy="114300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r>
              <a:rPr sz="1600" i="1">
                <a:solidFill>
                  <a:srgbClr val="E7ECF3"/>
                </a:solidFill>
                <a:latin typeface="Calibri"/>
              </a:rPr>
              <a:t>“There is an abundance of visual information. And sometimes a blind person is short on time, and you really just want the particular piece of information you're curious about.”</a:t>
            </a:r>
          </a:p>
          <a:p>
            <a:r>
              <a:rPr sz="1100">
                <a:solidFill>
                  <a:srgbClr val="22D3EE"/>
                </a:solidFill>
                <a:latin typeface="Calibri"/>
              </a:rPr>
              <a:t>— P1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3</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2–4 · Worldview, method, setting</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1000"/>
              </a:spcAft>
            </a:pPr>
            <a:r>
              <a:rPr sz="1600">
                <a:solidFill>
                  <a:srgbClr val="7C6CFF"/>
                </a:solidFill>
                <a:latin typeface="Calibri"/>
              </a:rPr>
              <a:t>▸  </a:t>
            </a:r>
            <a:r>
              <a:rPr sz="1600" b="1">
                <a:solidFill>
                  <a:srgbClr val="22D3EE"/>
                </a:solidFill>
                <a:latin typeface="Calibri"/>
              </a:rPr>
              <a:t>Worldview: interpretivist</a:t>
            </a:r>
            <a:r>
              <a:rPr sz="1600" b="0">
                <a:solidFill>
                  <a:srgbClr val="E7ECF3"/>
                </a:solidFill>
                <a:latin typeface="Calibri"/>
              </a:rPr>
              <a:t> — they want to understand strategies and lived experience, not prove a law</a:t>
            </a:r>
          </a:p>
          <a:p>
            <a:pPr>
              <a:spcAft>
                <a:spcPts val="1000"/>
              </a:spcAft>
            </a:pPr>
            <a:r>
              <a:rPr sz="1600">
                <a:solidFill>
                  <a:srgbClr val="7C6CFF"/>
                </a:solidFill>
                <a:latin typeface="Calibri"/>
              </a:rPr>
              <a:t>▸  </a:t>
            </a:r>
            <a:r>
              <a:rPr sz="1600" b="0">
                <a:solidFill>
                  <a:srgbClr val="E7ECF3"/>
                </a:solidFill>
                <a:latin typeface="Calibri"/>
              </a:rPr>
              <a:t>Deliberately did </a:t>
            </a:r>
            <a:r>
              <a:rPr sz="1600" b="1">
                <a:solidFill>
                  <a:srgbClr val="22D3EE"/>
                </a:solidFill>
                <a:latin typeface="Calibri"/>
              </a:rPr>
              <a:t>not measure task time</a:t>
            </a:r>
            <a:r>
              <a:rPr sz="1600" b="0">
                <a:solidFill>
                  <a:srgbClr val="E7ECF3"/>
                </a:solidFill>
                <a:latin typeface="Calibri"/>
              </a:rPr>
              <a:t> — chose </a:t>
            </a:r>
            <a:r>
              <a:rPr sz="1600" b="1">
                <a:solidFill>
                  <a:srgbClr val="22D3EE"/>
                </a:solidFill>
                <a:latin typeface="Calibri"/>
              </a:rPr>
              <a:t>qualitative</a:t>
            </a:r>
            <a:r>
              <a:rPr sz="1600" b="0">
                <a:solidFill>
                  <a:srgbClr val="E7ECF3"/>
                </a:solidFill>
                <a:latin typeface="Calibri"/>
              </a:rPr>
              <a:t> insight instead</a:t>
            </a:r>
          </a:p>
          <a:p>
            <a:pPr>
              <a:spcAft>
                <a:spcPts val="1000"/>
              </a:spcAft>
            </a:pPr>
            <a:r>
              <a:rPr sz="1600">
                <a:solidFill>
                  <a:srgbClr val="7C6CFF"/>
                </a:solidFill>
                <a:latin typeface="Calibri"/>
              </a:rPr>
              <a:t>▸  </a:t>
            </a:r>
            <a:r>
              <a:rPr sz="1600" b="1">
                <a:solidFill>
                  <a:srgbClr val="22D3EE"/>
                </a:solidFill>
                <a:latin typeface="Calibri"/>
              </a:rPr>
              <a:t>Method: qualitative usability study</a:t>
            </a:r>
            <a:r>
              <a:rPr sz="1600" b="0">
                <a:solidFill>
                  <a:srgbClr val="E7ECF3"/>
                </a:solidFill>
                <a:latin typeface="Calibri"/>
              </a:rPr>
              <a:t> of an artifact — </a:t>
            </a:r>
            <a:r>
              <a:rPr sz="1600" b="1">
                <a:solidFill>
                  <a:srgbClr val="22D3EE"/>
                </a:solidFill>
                <a:latin typeface="Calibri"/>
              </a:rPr>
              <a:t>non-experiment</a:t>
            </a:r>
            <a:r>
              <a:rPr sz="1600" b="0">
                <a:solidFill>
                  <a:srgbClr val="E7ECF3"/>
                </a:solidFill>
                <a:latin typeface="Calibri"/>
              </a:rPr>
              <a:t>, no IV/DV, no control group</a:t>
            </a:r>
          </a:p>
          <a:p>
            <a:pPr>
              <a:spcAft>
                <a:spcPts val="1000"/>
              </a:spcAft>
            </a:pPr>
            <a:r>
              <a:rPr sz="1600">
                <a:solidFill>
                  <a:srgbClr val="7C6CFF"/>
                </a:solidFill>
                <a:latin typeface="Calibri"/>
              </a:rPr>
              <a:t>▸  </a:t>
            </a:r>
            <a:r>
              <a:rPr sz="1600" b="0">
                <a:solidFill>
                  <a:srgbClr val="E7ECF3"/>
                </a:solidFill>
                <a:latin typeface="Calibri"/>
              </a:rPr>
              <a:t>Light quantitative layer: </a:t>
            </a:r>
            <a:r>
              <a:rPr sz="1600" b="1">
                <a:solidFill>
                  <a:srgbClr val="22D3EE"/>
                </a:solidFill>
                <a:latin typeface="Calibri"/>
              </a:rPr>
              <a:t>Likert ratings</a:t>
            </a:r>
            <a:r>
              <a:rPr sz="1600" b="0">
                <a:solidFill>
                  <a:srgbClr val="E7ECF3"/>
                </a:solidFill>
                <a:latin typeface="Calibri"/>
              </a:rPr>
              <a:t> + </a:t>
            </a:r>
            <a:r>
              <a:rPr sz="1600" b="1">
                <a:solidFill>
                  <a:srgbClr val="22D3EE"/>
                </a:solidFill>
                <a:latin typeface="Calibri"/>
              </a:rPr>
              <a:t>rankings</a:t>
            </a:r>
            <a:r>
              <a:rPr sz="1600" b="0">
                <a:solidFill>
                  <a:srgbClr val="E7ECF3"/>
                </a:solidFill>
                <a:latin typeface="Calibri"/>
              </a:rPr>
              <a:t> of the three modes (descriptive only)</a:t>
            </a:r>
          </a:p>
          <a:p>
            <a:pPr>
              <a:spcAft>
                <a:spcPts val="1000"/>
              </a:spcAft>
            </a:pPr>
            <a:r>
              <a:rPr sz="1600">
                <a:solidFill>
                  <a:srgbClr val="7C6CFF"/>
                </a:solidFill>
                <a:latin typeface="Calibri"/>
              </a:rPr>
              <a:t>▸  </a:t>
            </a:r>
            <a:r>
              <a:rPr sz="1600" b="1">
                <a:solidFill>
                  <a:srgbClr val="22D3EE"/>
                </a:solidFill>
                <a:latin typeface="Calibri"/>
              </a:rPr>
              <a:t>Setting: mixed</a:t>
            </a:r>
            <a:r>
              <a:rPr sz="1600" b="0">
                <a:solidFill>
                  <a:srgbClr val="E7ECF3"/>
                </a:solidFill>
                <a:latin typeface="Calibri"/>
              </a:rPr>
              <a:t> — remote (Zoom) and in-person lab with props; </a:t>
            </a:r>
            <a:r>
              <a:rPr sz="1600" b="1">
                <a:solidFill>
                  <a:srgbClr val="22D3EE"/>
                </a:solidFill>
                <a:latin typeface="Calibri"/>
              </a:rPr>
              <a:t>one-off</a:t>
            </a:r>
            <a:r>
              <a:rPr sz="1600" b="0">
                <a:solidFill>
                  <a:srgbClr val="E7ECF3"/>
                </a:solidFill>
                <a:latin typeface="Calibri"/>
              </a:rPr>
              <a:t> single session, ~2 hours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4</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5 · Design: one filter grammar, three ways to build it</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1000"/>
              </a:spcAft>
            </a:pPr>
            <a:r>
              <a:rPr sz="1600">
                <a:solidFill>
                  <a:srgbClr val="7C6CFF"/>
                </a:solidFill>
                <a:latin typeface="Calibri"/>
              </a:rPr>
              <a:t>▸  </a:t>
            </a:r>
            <a:r>
              <a:rPr sz="1600" b="0">
                <a:solidFill>
                  <a:srgbClr val="E7ECF3"/>
                </a:solidFill>
                <a:latin typeface="Calibri"/>
              </a:rPr>
              <a:t>Grammar: `find ADJECTIVE TARGET on ADJECTIVE TARGET` — only two operators, </a:t>
            </a:r>
            <a:r>
              <a:rPr sz="1600" b="1">
                <a:solidFill>
                  <a:srgbClr val="22D3EE"/>
                </a:solidFill>
                <a:latin typeface="Calibri"/>
              </a:rPr>
              <a:t>find</a:t>
            </a:r>
            <a:r>
              <a:rPr sz="1600" b="0">
                <a:solidFill>
                  <a:srgbClr val="E7ECF3"/>
                </a:solidFill>
                <a:latin typeface="Calibri"/>
              </a:rPr>
              <a:t> and </a:t>
            </a:r>
            <a:r>
              <a:rPr sz="1600" b="1">
                <a:solidFill>
                  <a:srgbClr val="22D3EE"/>
                </a:solidFill>
                <a:latin typeface="Calibri"/>
              </a:rPr>
              <a:t>on</a:t>
            </a:r>
          </a:p>
          <a:p>
            <a:pPr>
              <a:spcAft>
                <a:spcPts val="1000"/>
              </a:spcAft>
            </a:pPr>
            <a:r>
              <a:rPr sz="1600">
                <a:solidFill>
                  <a:srgbClr val="7C6CFF"/>
                </a:solidFill>
                <a:latin typeface="Calibri"/>
              </a:rPr>
              <a:t>▸  </a:t>
            </a:r>
            <a:r>
              <a:rPr sz="1600" b="0">
                <a:solidFill>
                  <a:srgbClr val="E7ECF3"/>
                </a:solidFill>
                <a:latin typeface="Calibri"/>
              </a:rPr>
              <a:t>Adjectives = </a:t>
            </a:r>
            <a:r>
              <a:rPr sz="1600" b="1">
                <a:solidFill>
                  <a:srgbClr val="22D3EE"/>
                </a:solidFill>
                <a:latin typeface="Calibri"/>
              </a:rPr>
              <a:t>color, size, location</a:t>
            </a:r>
            <a:r>
              <a:rPr sz="1600" b="0">
                <a:solidFill>
                  <a:srgbClr val="E7ECF3"/>
                </a:solidFill>
                <a:latin typeface="Calibri"/>
              </a:rPr>
              <a:t> (authors call the implementation </a:t>
            </a:r>
            <a:r>
              <a:rPr sz="1600" b="1">
                <a:solidFill>
                  <a:srgbClr val="22D3EE"/>
                </a:solidFill>
                <a:latin typeface="Calibri"/>
              </a:rPr>
              <a:t>naive</a:t>
            </a:r>
            <a:r>
              <a:rPr sz="1600" b="0">
                <a:solidFill>
                  <a:srgbClr val="E7ECF3"/>
                </a:solidFill>
                <a:latin typeface="Calibri"/>
              </a:rPr>
              <a:t>, proof-of-concept)</a:t>
            </a:r>
          </a:p>
          <a:p>
            <a:pPr>
              <a:spcAft>
                <a:spcPts val="1000"/>
              </a:spcAft>
            </a:pPr>
            <a:r>
              <a:rPr sz="1600">
                <a:solidFill>
                  <a:srgbClr val="7C6CFF"/>
                </a:solidFill>
                <a:latin typeface="Calibri"/>
              </a:rPr>
              <a:t>▸  </a:t>
            </a:r>
            <a:r>
              <a:rPr sz="1600" b="1">
                <a:solidFill>
                  <a:srgbClr val="22D3EE"/>
                </a:solidFill>
                <a:latin typeface="Calibri"/>
              </a:rPr>
              <a:t>Multi-modal</a:t>
            </a:r>
            <a:r>
              <a:rPr sz="1600" b="0">
                <a:solidFill>
                  <a:srgbClr val="E7ECF3"/>
                </a:solidFill>
                <a:latin typeface="Calibri"/>
              </a:rPr>
              <a:t> creation: </a:t>
            </a:r>
            <a:r>
              <a:rPr sz="1600" b="1">
                <a:solidFill>
                  <a:srgbClr val="22D3EE"/>
                </a:solidFill>
                <a:latin typeface="Calibri"/>
              </a:rPr>
              <a:t>Block</a:t>
            </a:r>
            <a:r>
              <a:rPr sz="1600" b="0">
                <a:solidFill>
                  <a:srgbClr val="E7ECF3"/>
                </a:solidFill>
                <a:latin typeface="Calibri"/>
              </a:rPr>
              <a:t> (touch), </a:t>
            </a:r>
            <a:r>
              <a:rPr sz="1600" b="1">
                <a:solidFill>
                  <a:srgbClr val="22D3EE"/>
                </a:solidFill>
                <a:latin typeface="Calibri"/>
              </a:rPr>
              <a:t>Question</a:t>
            </a:r>
            <a:r>
              <a:rPr sz="1600" b="0">
                <a:solidFill>
                  <a:srgbClr val="E7ECF3"/>
                </a:solidFill>
                <a:latin typeface="Calibri"/>
              </a:rPr>
              <a:t> (speech/text + GPT-4), </a:t>
            </a:r>
            <a:r>
              <a:rPr sz="1600" b="1">
                <a:solidFill>
                  <a:srgbClr val="22D3EE"/>
                </a:solidFill>
                <a:latin typeface="Calibri"/>
              </a:rPr>
              <a:t>Explore</a:t>
            </a:r>
            <a:r>
              <a:rPr sz="1600" b="0">
                <a:solidFill>
                  <a:srgbClr val="E7ECF3"/>
                </a:solidFill>
                <a:latin typeface="Calibri"/>
              </a:rPr>
              <a:t> (camera, by-example)</a:t>
            </a:r>
          </a:p>
          <a:p>
            <a:pPr>
              <a:spcAft>
                <a:spcPts val="1000"/>
              </a:spcAft>
            </a:pPr>
            <a:r>
              <a:rPr sz="1600">
                <a:solidFill>
                  <a:srgbClr val="7C6CFF"/>
                </a:solidFill>
                <a:latin typeface="Calibri"/>
              </a:rPr>
              <a:t>▸  </a:t>
            </a:r>
            <a:r>
              <a:rPr sz="1600" b="0">
                <a:solidFill>
                  <a:srgbClr val="E7ECF3"/>
                </a:solidFill>
                <a:latin typeface="Calibri"/>
              </a:rPr>
              <a:t>All three modes feed the </a:t>
            </a:r>
            <a:r>
              <a:rPr sz="1600" b="1">
                <a:solidFill>
                  <a:srgbClr val="22D3EE"/>
                </a:solidFill>
                <a:latin typeface="Calibri"/>
              </a:rPr>
              <a:t>block editor</a:t>
            </a:r>
            <a:r>
              <a:rPr sz="1600" b="0">
                <a:solidFill>
                  <a:srgbClr val="E7ECF3"/>
                </a:solidFill>
                <a:latin typeface="Calibri"/>
              </a:rPr>
              <a:t> — the shared place to review and fix programs</a:t>
            </a:r>
          </a:p>
          <a:p>
            <a:pPr>
              <a:spcAft>
                <a:spcPts val="1000"/>
              </a:spcAft>
            </a:pPr>
            <a:r>
              <a:rPr sz="1600">
                <a:solidFill>
                  <a:srgbClr val="7C6CFF"/>
                </a:solidFill>
                <a:latin typeface="Calibri"/>
              </a:rPr>
              <a:t>▸  </a:t>
            </a:r>
            <a:r>
              <a:rPr sz="1600" b="0">
                <a:solidFill>
                  <a:srgbClr val="E7ECF3"/>
                </a:solidFill>
                <a:latin typeface="Calibri"/>
              </a:rPr>
              <a:t>Three design goals: </a:t>
            </a:r>
            <a:r>
              <a:rPr sz="1600" b="1">
                <a:solidFill>
                  <a:srgbClr val="22D3EE"/>
                </a:solidFill>
                <a:latin typeface="Calibri"/>
              </a:rPr>
              <a:t>D1 Expressiveness</a:t>
            </a:r>
            <a:r>
              <a:rPr sz="1600" b="0">
                <a:solidFill>
                  <a:srgbClr val="E7ECF3"/>
                </a:solidFill>
                <a:latin typeface="Calibri"/>
              </a:rPr>
              <a:t>, </a:t>
            </a:r>
            <a:r>
              <a:rPr sz="1600" b="1">
                <a:solidFill>
                  <a:srgbClr val="22D3EE"/>
                </a:solidFill>
                <a:latin typeface="Calibri"/>
              </a:rPr>
              <a:t>D2 Approachability</a:t>
            </a:r>
            <a:r>
              <a:rPr sz="1600" b="0">
                <a:solidFill>
                  <a:srgbClr val="E7ECF3"/>
                </a:solidFill>
                <a:latin typeface="Calibri"/>
              </a:rPr>
              <a:t>, </a:t>
            </a:r>
            <a:r>
              <a:rPr sz="1600" b="1">
                <a:solidFill>
                  <a:srgbClr val="22D3EE"/>
                </a:solidFill>
                <a:latin typeface="Calibri"/>
              </a:rPr>
              <a:t>D3 Accessibility</a:t>
            </a:r>
            <a:r>
              <a:rPr sz="1600" b="0">
                <a:solidFill>
                  <a:srgbClr val="E7ECF3"/>
                </a:solidFill>
                <a:latin typeface="Calibri"/>
              </a:rPr>
              <a:t> (VoiceOver + Braille)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5</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6–7 · Participants and procedure</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1000"/>
              </a:spcAft>
            </a:pPr>
            <a:r>
              <a:rPr sz="1600">
                <a:solidFill>
                  <a:srgbClr val="7C6CFF"/>
                </a:solidFill>
                <a:latin typeface="Calibri"/>
              </a:rPr>
              <a:t>▸  </a:t>
            </a:r>
            <a:r>
              <a:rPr sz="1600" b="1">
                <a:solidFill>
                  <a:srgbClr val="22D3EE"/>
                </a:solidFill>
                <a:latin typeface="Calibri"/>
              </a:rPr>
              <a:t>12 blind participants</a:t>
            </a:r>
            <a:r>
              <a:rPr sz="1600" b="0">
                <a:solidFill>
                  <a:srgbClr val="E7ECF3"/>
                </a:solidFill>
                <a:latin typeface="Calibri"/>
              </a:rPr>
              <a:t> (4 pilot, 4 remote, 4 face-to-face); </a:t>
            </a:r>
            <a:r>
              <a:rPr sz="1600" b="1">
                <a:solidFill>
                  <a:srgbClr val="22D3EE"/>
                </a:solidFill>
                <a:latin typeface="Calibri"/>
              </a:rPr>
              <a:t>$25/hr</a:t>
            </a:r>
            <a:r>
              <a:rPr sz="1600" b="0">
                <a:solidFill>
                  <a:srgbClr val="E7ECF3"/>
                </a:solidFill>
                <a:latin typeface="Calibri"/>
              </a:rPr>
              <a:t>, IRB approved</a:t>
            </a:r>
          </a:p>
          <a:p>
            <a:pPr>
              <a:spcAft>
                <a:spcPts val="1000"/>
              </a:spcAft>
            </a:pPr>
            <a:r>
              <a:rPr sz="1600">
                <a:solidFill>
                  <a:srgbClr val="7C6CFF"/>
                </a:solidFill>
                <a:latin typeface="Calibri"/>
              </a:rPr>
              <a:t>▸  </a:t>
            </a:r>
            <a:r>
              <a:rPr sz="1600" b="0">
                <a:solidFill>
                  <a:srgbClr val="E7ECF3"/>
                </a:solidFill>
                <a:latin typeface="Calibri"/>
              </a:rPr>
              <a:t>Only </a:t>
            </a:r>
            <a:r>
              <a:rPr sz="1600" b="1">
                <a:solidFill>
                  <a:srgbClr val="22D3EE"/>
                </a:solidFill>
                <a:latin typeface="Calibri"/>
              </a:rPr>
              <a:t>2 of 12</a:t>
            </a:r>
            <a:r>
              <a:rPr sz="1600" b="0">
                <a:solidFill>
                  <a:srgbClr val="E7ECF3"/>
                </a:solidFill>
                <a:latin typeface="Calibri"/>
              </a:rPr>
              <a:t> had any programming experience; mixed expertise (2 AT pros; 1 new to VoiceOver)</a:t>
            </a:r>
          </a:p>
          <a:p>
            <a:pPr>
              <a:spcAft>
                <a:spcPts val="1000"/>
              </a:spcAft>
            </a:pPr>
            <a:r>
              <a:rPr sz="1600">
                <a:solidFill>
                  <a:srgbClr val="7C6CFF"/>
                </a:solidFill>
                <a:latin typeface="Calibri"/>
              </a:rPr>
              <a:t>▸  </a:t>
            </a:r>
            <a:r>
              <a:rPr sz="1600" b="0">
                <a:solidFill>
                  <a:srgbClr val="E7ECF3"/>
                </a:solidFill>
                <a:latin typeface="Calibri"/>
              </a:rPr>
              <a:t>Recruited via accessibility orgs, prior contacts + </a:t>
            </a:r>
            <a:r>
              <a:rPr sz="1600" b="1">
                <a:solidFill>
                  <a:srgbClr val="22D3EE"/>
                </a:solidFill>
                <a:latin typeface="Calibri"/>
              </a:rPr>
              <a:t>snowball sampling</a:t>
            </a:r>
            <a:r>
              <a:rPr sz="1600" b="0">
                <a:solidFill>
                  <a:srgbClr val="E7ECF3"/>
                </a:solidFill>
                <a:latin typeface="Calibri"/>
              </a:rPr>
              <a:t>; must use a </a:t>
            </a:r>
            <a:r>
              <a:rPr sz="1600" b="1">
                <a:solidFill>
                  <a:srgbClr val="22D3EE"/>
                </a:solidFill>
                <a:latin typeface="Calibri"/>
              </a:rPr>
              <a:t>screen reader</a:t>
            </a:r>
            <a:r>
              <a:rPr sz="1600" b="0">
                <a:solidFill>
                  <a:srgbClr val="E7ECF3"/>
                </a:solidFill>
                <a:latin typeface="Calibri"/>
              </a:rPr>
              <a:t> and own an </a:t>
            </a:r>
            <a:r>
              <a:rPr sz="1600" b="1">
                <a:solidFill>
                  <a:srgbClr val="22D3EE"/>
                </a:solidFill>
                <a:latin typeface="Calibri"/>
              </a:rPr>
              <a:t>iPhone</a:t>
            </a:r>
            <a:r>
              <a:rPr sz="1600" b="0">
                <a:solidFill>
                  <a:srgbClr val="E7ECF3"/>
                </a:solidFill>
                <a:latin typeface="Calibri"/>
              </a:rPr>
              <a:t> (TestFlight)</a:t>
            </a:r>
          </a:p>
          <a:p>
            <a:pPr>
              <a:spcAft>
                <a:spcPts val="1000"/>
              </a:spcAft>
            </a:pPr>
            <a:r>
              <a:rPr sz="1600">
                <a:solidFill>
                  <a:srgbClr val="7C6CFF"/>
                </a:solidFill>
                <a:latin typeface="Calibri"/>
              </a:rPr>
              <a:t>▸  </a:t>
            </a:r>
            <a:r>
              <a:rPr sz="1600" b="0">
                <a:solidFill>
                  <a:srgbClr val="E7ECF3"/>
                </a:solidFill>
                <a:latin typeface="Calibri"/>
              </a:rPr>
              <a:t>Procedure: intro interview → read a sample program → add an adjective → build &amp; run </a:t>
            </a:r>
            <a:r>
              <a:rPr sz="1600" b="1">
                <a:solidFill>
                  <a:srgbClr val="22D3EE"/>
                </a:solidFill>
                <a:latin typeface="Calibri"/>
              </a:rPr>
              <a:t>3 programs</a:t>
            </a:r>
            <a:r>
              <a:rPr sz="1600" b="0">
                <a:solidFill>
                  <a:srgbClr val="E7ECF3"/>
                </a:solidFill>
                <a:latin typeface="Calibri"/>
              </a:rPr>
              <a:t>, one per mode</a:t>
            </a:r>
          </a:p>
          <a:p>
            <a:pPr>
              <a:spcAft>
                <a:spcPts val="1000"/>
              </a:spcAft>
            </a:pPr>
            <a:r>
              <a:rPr sz="1600">
                <a:solidFill>
                  <a:srgbClr val="7C6CFF"/>
                </a:solidFill>
                <a:latin typeface="Calibri"/>
              </a:rPr>
              <a:t>▸  </a:t>
            </a:r>
            <a:r>
              <a:rPr sz="1600" b="1">
                <a:solidFill>
                  <a:srgbClr val="22D3EE"/>
                </a:solidFill>
                <a:latin typeface="Calibri"/>
              </a:rPr>
              <a:t>Think-aloud</a:t>
            </a:r>
            <a:r>
              <a:rPr sz="1600" b="0">
                <a:solidFill>
                  <a:srgbClr val="E7ECF3"/>
                </a:solidFill>
                <a:latin typeface="Calibri"/>
              </a:rPr>
              <a:t> while building; ran on </a:t>
            </a:r>
            <a:r>
              <a:rPr sz="1600" b="1">
                <a:solidFill>
                  <a:srgbClr val="22D3EE"/>
                </a:solidFill>
                <a:latin typeface="Calibri"/>
              </a:rPr>
              <a:t>images</a:t>
            </a:r>
            <a:r>
              <a:rPr sz="1600" b="0">
                <a:solidFill>
                  <a:srgbClr val="E7ECF3"/>
                </a:solidFill>
                <a:latin typeface="Calibri"/>
              </a:rPr>
              <a:t> (remote) or </a:t>
            </a:r>
            <a:r>
              <a:rPr sz="1600" b="1">
                <a:solidFill>
                  <a:srgbClr val="22D3EE"/>
                </a:solidFill>
                <a:latin typeface="Calibri"/>
              </a:rPr>
              <a:t>props</a:t>
            </a:r>
            <a:r>
              <a:rPr sz="1600" b="0">
                <a:solidFill>
                  <a:srgbClr val="E7ECF3"/>
                </a:solidFill>
                <a:latin typeface="Calibri"/>
              </a:rPr>
              <a:t> (in-person); then </a:t>
            </a:r>
            <a:r>
              <a:rPr sz="1600" b="1">
                <a:solidFill>
                  <a:srgbClr val="22D3EE"/>
                </a:solidFill>
                <a:latin typeface="Calibri"/>
              </a:rPr>
              <a:t>rated</a:t>
            </a:r>
            <a:r>
              <a:rPr sz="1600" b="0">
                <a:solidFill>
                  <a:srgbClr val="E7ECF3"/>
                </a:solidFill>
                <a:latin typeface="Calibri"/>
              </a:rPr>
              <a:t> and </a:t>
            </a:r>
            <a:r>
              <a:rPr sz="1600" b="1">
                <a:solidFill>
                  <a:srgbClr val="22D3EE"/>
                </a:solidFill>
                <a:latin typeface="Calibri"/>
              </a:rPr>
              <a:t>ranked</a:t>
            </a:r>
            <a:r>
              <a:rPr sz="1600" b="0">
                <a:solidFill>
                  <a:srgbClr val="E7ECF3"/>
                </a:solidFill>
                <a:latin typeface="Calibri"/>
              </a:rPr>
              <a:t> the modes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6</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8–9 · Data, analysis, findings</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1000"/>
              </a:spcAft>
            </a:pPr>
            <a:r>
              <a:rPr sz="1600">
                <a:solidFill>
                  <a:srgbClr val="7C6CFF"/>
                </a:solidFill>
                <a:latin typeface="Calibri"/>
              </a:rPr>
              <a:t>▸  </a:t>
            </a:r>
            <a:r>
              <a:rPr sz="1600" b="0">
                <a:solidFill>
                  <a:srgbClr val="E7ECF3"/>
                </a:solidFill>
                <a:latin typeface="Calibri"/>
              </a:rPr>
              <a:t>Data = </a:t>
            </a:r>
            <a:r>
              <a:rPr sz="1600" b="1">
                <a:solidFill>
                  <a:srgbClr val="22D3EE"/>
                </a:solidFill>
                <a:latin typeface="Calibri"/>
              </a:rPr>
              <a:t>qualitative think-aloud + interviews</a:t>
            </a:r>
            <a:r>
              <a:rPr sz="1600" b="0">
                <a:solidFill>
                  <a:srgbClr val="E7ECF3"/>
                </a:solidFill>
                <a:latin typeface="Calibri"/>
              </a:rPr>
              <a:t>, organised into themes; plus Likert + rankings (Figure 5)</a:t>
            </a:r>
          </a:p>
          <a:p>
            <a:pPr>
              <a:spcAft>
                <a:spcPts val="1000"/>
              </a:spcAft>
            </a:pPr>
            <a:r>
              <a:rPr sz="1600">
                <a:solidFill>
                  <a:srgbClr val="7C6CFF"/>
                </a:solidFill>
                <a:latin typeface="Calibri"/>
              </a:rPr>
              <a:t>▸  </a:t>
            </a:r>
            <a:r>
              <a:rPr sz="1600" b="0">
                <a:solidFill>
                  <a:srgbClr val="E7ECF3"/>
                </a:solidFill>
                <a:latin typeface="Calibri"/>
              </a:rPr>
              <a:t>Headline: </a:t>
            </a:r>
            <a:r>
              <a:rPr sz="1600" b="1">
                <a:solidFill>
                  <a:srgbClr val="22D3EE"/>
                </a:solidFill>
                <a:latin typeface="Calibri"/>
              </a:rPr>
              <a:t>no single mode won</a:t>
            </a:r>
            <a:r>
              <a:rPr sz="1600" b="0">
                <a:solidFill>
                  <a:srgbClr val="E7ECF3"/>
                </a:solidFill>
                <a:latin typeface="Calibri"/>
              </a:rPr>
              <a:t> — people chose modes by </a:t>
            </a:r>
            <a:r>
              <a:rPr sz="1600" b="1">
                <a:solidFill>
                  <a:srgbClr val="22D3EE"/>
                </a:solidFill>
                <a:latin typeface="Calibri"/>
              </a:rPr>
              <a:t>task, setting, and experience</a:t>
            </a:r>
          </a:p>
          <a:p>
            <a:pPr>
              <a:spcAft>
                <a:spcPts val="1000"/>
              </a:spcAft>
            </a:pPr>
            <a:r>
              <a:rPr sz="1600">
                <a:solidFill>
                  <a:srgbClr val="7C6CFF"/>
                </a:solidFill>
                <a:latin typeface="Calibri"/>
              </a:rPr>
              <a:t>▸  </a:t>
            </a:r>
            <a:r>
              <a:rPr sz="1600" b="1">
                <a:solidFill>
                  <a:srgbClr val="22D3EE"/>
                </a:solidFill>
                <a:latin typeface="Calibri"/>
              </a:rPr>
              <a:t>Question = easiest</a:t>
            </a:r>
            <a:r>
              <a:rPr sz="1600" b="0">
                <a:solidFill>
                  <a:srgbClr val="E7ECF3"/>
                </a:solidFill>
                <a:latin typeface="Calibri"/>
              </a:rPr>
              <a:t>; </a:t>
            </a:r>
            <a:r>
              <a:rPr sz="1600" b="1">
                <a:solidFill>
                  <a:srgbClr val="22D3EE"/>
                </a:solidFill>
                <a:latin typeface="Calibri"/>
              </a:rPr>
              <a:t>Block = perceived most accurate</a:t>
            </a:r>
            <a:r>
              <a:rPr sz="1600" b="0">
                <a:solidFill>
                  <a:srgbClr val="E7ECF3"/>
                </a:solidFill>
                <a:latin typeface="Calibri"/>
              </a:rPr>
              <a:t> but highest learning cost; Explore best for </a:t>
            </a:r>
            <a:r>
              <a:rPr sz="1600" b="1">
                <a:solidFill>
                  <a:srgbClr val="22D3EE"/>
                </a:solidFill>
                <a:latin typeface="Calibri"/>
              </a:rPr>
              <a:t>discovery</a:t>
            </a:r>
          </a:p>
          <a:p>
            <a:pPr>
              <a:spcAft>
                <a:spcPts val="1000"/>
              </a:spcAft>
            </a:pPr>
            <a:r>
              <a:rPr sz="1600">
                <a:solidFill>
                  <a:srgbClr val="7C6CFF"/>
                </a:solidFill>
                <a:latin typeface="Calibri"/>
              </a:rPr>
              <a:t>▸  </a:t>
            </a:r>
            <a:r>
              <a:rPr sz="1600" b="0">
                <a:solidFill>
                  <a:srgbClr val="E7ECF3"/>
                </a:solidFill>
                <a:latin typeface="Calibri"/>
              </a:rPr>
              <a:t>Custom filters beat Seeing AI for repeated tasks (it 'kept reading and reading'); better than Be My AI when one photo is hard to frame</a:t>
            </a:r>
          </a:p>
          <a:p>
            <a:pPr>
              <a:spcAft>
                <a:spcPts val="1000"/>
              </a:spcAft>
            </a:pPr>
            <a:r>
              <a:rPr sz="1600">
                <a:solidFill>
                  <a:srgbClr val="7C6CFF"/>
                </a:solidFill>
                <a:latin typeface="Calibri"/>
              </a:rPr>
              <a:t>▸  </a:t>
            </a:r>
            <a:r>
              <a:rPr sz="1600" b="0">
                <a:solidFill>
                  <a:srgbClr val="E7ECF3"/>
                </a:solidFill>
                <a:latin typeface="Calibri"/>
              </a:rPr>
              <a:t>New challenge surfaced: the </a:t>
            </a:r>
            <a:r>
              <a:rPr sz="1600" b="1">
                <a:solidFill>
                  <a:srgbClr val="22D3EE"/>
                </a:solidFill>
                <a:latin typeface="Calibri"/>
              </a:rPr>
              <a:t>unknown-unknowns</a:t>
            </a:r>
            <a:r>
              <a:rPr sz="1600" b="0">
                <a:solidFill>
                  <a:srgbClr val="E7ECF3"/>
                </a:solidFill>
                <a:latin typeface="Calibri"/>
              </a:rPr>
              <a:t> — you cannot filter for what you do not know is there</a:t>
            </a:r>
          </a:p>
        </p:txBody>
      </p:sp>
      <p:sp>
        <p:nvSpPr>
          <p:cNvPr id="8" name="Rounded Rectangle 7"/>
          <p:cNvSpPr/>
          <p:nvPr/>
        </p:nvSpPr>
        <p:spPr>
          <a:xfrm>
            <a:off x="640080" y="5029200"/>
            <a:ext cx="10881360" cy="114300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r>
              <a:rPr sz="1600" i="1">
                <a:solidFill>
                  <a:srgbClr val="E7ECF3"/>
                </a:solidFill>
                <a:latin typeface="Calibri"/>
              </a:rPr>
              <a:t>“It's all contextual... I would use different methods based on what I knew about the environment.”</a:t>
            </a:r>
          </a:p>
          <a:p>
            <a:r>
              <a:rPr sz="1100">
                <a:solidFill>
                  <a:srgbClr val="22D3EE"/>
                </a:solidFill>
                <a:latin typeface="Calibri"/>
              </a:rPr>
              <a:t>— R4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7</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Design lessons + contribution type</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800"/>
              </a:spcAft>
            </a:pPr>
            <a:r>
              <a:rPr sz="1500">
                <a:solidFill>
                  <a:srgbClr val="7C6CFF"/>
                </a:solidFill>
                <a:latin typeface="Calibri"/>
              </a:rPr>
              <a:t>▸  </a:t>
            </a:r>
            <a:r>
              <a:rPr sz="1500" b="1">
                <a:solidFill>
                  <a:srgbClr val="22D3EE"/>
                </a:solidFill>
                <a:latin typeface="Calibri"/>
              </a:rPr>
              <a:t>Offer multiple modalities</a:t>
            </a:r>
            <a:r>
              <a:rPr sz="1500" b="0">
                <a:solidFill>
                  <a:srgbClr val="E7ECF3"/>
                </a:solidFill>
                <a:latin typeface="Calibri"/>
              </a:rPr>
              <a:t> — let users pick the channel that fits the task and their skill (no single best mode)</a:t>
            </a:r>
          </a:p>
          <a:p>
            <a:pPr>
              <a:spcAft>
                <a:spcPts val="800"/>
              </a:spcAft>
            </a:pPr>
            <a:r>
              <a:rPr sz="1500">
                <a:solidFill>
                  <a:srgbClr val="7C6CFF"/>
                </a:solidFill>
                <a:latin typeface="Calibri"/>
              </a:rPr>
              <a:t>▸  </a:t>
            </a:r>
            <a:r>
              <a:rPr sz="1500" b="0">
                <a:solidFill>
                  <a:srgbClr val="E7ECF3"/>
                </a:solidFill>
                <a:latin typeface="Calibri"/>
              </a:rPr>
              <a:t>Use a </a:t>
            </a:r>
            <a:r>
              <a:rPr sz="1500" b="1">
                <a:solidFill>
                  <a:srgbClr val="22D3EE"/>
                </a:solidFill>
                <a:latin typeface="Calibri"/>
              </a:rPr>
              <a:t>shared editable substrate</a:t>
            </a:r>
            <a:r>
              <a:rPr sz="1500" b="0">
                <a:solidFill>
                  <a:srgbClr val="E7ECF3"/>
                </a:solidFill>
                <a:latin typeface="Calibri"/>
              </a:rPr>
              <a:t>: NL and by-example outputs land in the </a:t>
            </a:r>
            <a:r>
              <a:rPr sz="1500" b="1">
                <a:solidFill>
                  <a:srgbClr val="22D3EE"/>
                </a:solidFill>
                <a:latin typeface="Calibri"/>
              </a:rPr>
              <a:t>block editor</a:t>
            </a:r>
            <a:r>
              <a:rPr sz="1500" b="0">
                <a:solidFill>
                  <a:srgbClr val="E7ECF3"/>
                </a:solidFill>
                <a:latin typeface="Calibri"/>
              </a:rPr>
              <a:t> to review and fix</a:t>
            </a:r>
          </a:p>
          <a:p>
            <a:pPr>
              <a:spcAft>
                <a:spcPts val="800"/>
              </a:spcAft>
            </a:pPr>
            <a:r>
              <a:rPr sz="1500">
                <a:solidFill>
                  <a:srgbClr val="7C6CFF"/>
                </a:solidFill>
                <a:latin typeface="Calibri"/>
              </a:rPr>
              <a:t>▸  </a:t>
            </a:r>
            <a:r>
              <a:rPr sz="1500" b="0">
                <a:solidFill>
                  <a:srgbClr val="E7ECF3"/>
                </a:solidFill>
                <a:latin typeface="Calibri"/>
              </a:rPr>
              <a:t>Help with </a:t>
            </a:r>
            <a:r>
              <a:rPr sz="1500" b="1">
                <a:solidFill>
                  <a:srgbClr val="22D3EE"/>
                </a:solidFill>
                <a:latin typeface="Calibri"/>
              </a:rPr>
              <a:t>unknown-unknowns</a:t>
            </a:r>
            <a:r>
              <a:rPr sz="1500" b="0">
                <a:solidFill>
                  <a:srgbClr val="E7ECF3"/>
                </a:solidFill>
                <a:latin typeface="Calibri"/>
              </a:rPr>
              <a:t> — surface what the system can detect (Explore mode) so users can discover filters</a:t>
            </a:r>
          </a:p>
          <a:p>
            <a:pPr>
              <a:spcAft>
                <a:spcPts val="800"/>
              </a:spcAft>
            </a:pPr>
            <a:r>
              <a:rPr sz="1500">
                <a:solidFill>
                  <a:srgbClr val="7C6CFF"/>
                </a:solidFill>
                <a:latin typeface="Calibri"/>
              </a:rPr>
              <a:t>▸  </a:t>
            </a:r>
            <a:r>
              <a:rPr sz="1500" b="0">
                <a:solidFill>
                  <a:srgbClr val="E7ECF3"/>
                </a:solidFill>
                <a:latin typeface="Calibri"/>
              </a:rPr>
              <a:t>Design for </a:t>
            </a:r>
            <a:r>
              <a:rPr sz="1500" b="1">
                <a:solidFill>
                  <a:srgbClr val="22D3EE"/>
                </a:solidFill>
                <a:latin typeface="Calibri"/>
              </a:rPr>
              <a:t>specificity vs reusability</a:t>
            </a:r>
            <a:r>
              <a:rPr sz="1500" b="0">
                <a:solidFill>
                  <a:srgbClr val="E7ECF3"/>
                </a:solidFill>
                <a:latin typeface="Calibri"/>
              </a:rPr>
              <a:t>: super-classes so one filter generalises; honour both broad and narrow needs</a:t>
            </a:r>
          </a:p>
          <a:p>
            <a:pPr>
              <a:spcAft>
                <a:spcPts val="800"/>
              </a:spcAft>
            </a:pPr>
            <a:r>
              <a:rPr sz="1500">
                <a:solidFill>
                  <a:srgbClr val="7C6CFF"/>
                </a:solidFill>
                <a:latin typeface="Calibri"/>
              </a:rPr>
              <a:t>▸  </a:t>
            </a:r>
            <a:r>
              <a:rPr sz="1500" b="1">
                <a:solidFill>
                  <a:srgbClr val="22D3EE"/>
                </a:solidFill>
                <a:latin typeface="Calibri"/>
              </a:rPr>
              <a:t>Primary = ARTIFACT contribution</a:t>
            </a:r>
            <a:r>
              <a:rPr sz="1500" b="0">
                <a:solidFill>
                  <a:srgbClr val="E7ECF3"/>
                </a:solidFill>
                <a:latin typeface="Calibri"/>
              </a:rPr>
              <a:t>: a new system + a generalisable filter representation — judged by *what is now possible*</a:t>
            </a:r>
          </a:p>
          <a:p>
            <a:pPr>
              <a:spcAft>
                <a:spcPts val="800"/>
              </a:spcAft>
            </a:pPr>
            <a:r>
              <a:rPr sz="1500">
                <a:solidFill>
                  <a:srgbClr val="7C6CFF"/>
                </a:solidFill>
                <a:latin typeface="Calibri"/>
              </a:rPr>
              <a:t>▸  </a:t>
            </a:r>
            <a:r>
              <a:rPr sz="1500" b="1">
                <a:solidFill>
                  <a:srgbClr val="22D3EE"/>
                </a:solidFill>
                <a:latin typeface="Calibri"/>
              </a:rPr>
              <a:t>Secondary = EMPIRICAL contribution</a:t>
            </a:r>
            <a:r>
              <a:rPr sz="1500" b="0">
                <a:solidFill>
                  <a:srgbClr val="E7ECF3"/>
                </a:solidFill>
                <a:latin typeface="Calibri"/>
              </a:rPr>
              <a:t>: study of 12 blind users revealing </a:t>
            </a:r>
            <a:r>
              <a:rPr sz="1500" b="1">
                <a:solidFill>
                  <a:srgbClr val="22D3EE"/>
                </a:solidFill>
                <a:latin typeface="Calibri"/>
              </a:rPr>
              <a:t>challenges of blind end-user programmers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2377440"/>
            <a:ext cx="12191695" cy="210312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97480"/>
            <a:ext cx="10515600" cy="1280160"/>
          </a:xfrm>
          <a:prstGeom prst="rect">
            <a:avLst/>
          </a:prstGeom>
          <a:noFill/>
        </p:spPr>
        <p:txBody>
          <a:bodyPr wrap="square">
            <a:spAutoFit/>
          </a:bodyPr>
          <a:lstStyle/>
          <a:p>
            <a:r>
              <a:rPr sz="3800" b="1">
                <a:solidFill>
                  <a:srgbClr val="E7ECF3"/>
                </a:solidFill>
                <a:latin typeface="Calibri"/>
              </a:rPr>
              <a:t>MY IDEA</a:t>
            </a:r>
          </a:p>
          <a:p>
            <a:r>
              <a:rPr sz="1600">
                <a:solidFill>
                  <a:srgbClr val="22D3EE"/>
                </a:solidFill>
                <a:latin typeface="Calibri"/>
              </a:rPr>
              <a:t>Extending the paper    ·    ≈ 2:15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8</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1 · My idea — the gap: DIY burden + managing a library</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800"/>
              </a:spcAft>
            </a:pPr>
            <a:r>
              <a:rPr sz="1500">
                <a:solidFill>
                  <a:srgbClr val="7C6CFF"/>
                </a:solidFill>
                <a:latin typeface="Calibri"/>
              </a:rPr>
              <a:t>▸  </a:t>
            </a:r>
            <a:r>
              <a:rPr sz="1500" b="0">
                <a:solidFill>
                  <a:srgbClr val="E7ECF3"/>
                </a:solidFill>
                <a:latin typeface="Calibri"/>
              </a:rPr>
              <a:t>Paper's win is </a:t>
            </a:r>
            <a:r>
              <a:rPr sz="1500" b="1">
                <a:solidFill>
                  <a:srgbClr val="22D3EE"/>
                </a:solidFill>
                <a:latin typeface="Calibri"/>
              </a:rPr>
              <a:t>expressiveness</a:t>
            </a:r>
            <a:r>
              <a:rPr sz="1500" b="0">
                <a:solidFill>
                  <a:srgbClr val="E7ECF3"/>
                </a:solidFill>
                <a:latin typeface="Calibri"/>
              </a:rPr>
              <a:t>, but its cost is the </a:t>
            </a:r>
            <a:r>
              <a:rPr sz="1500" b="1">
                <a:solidFill>
                  <a:srgbClr val="22D3EE"/>
                </a:solidFill>
                <a:latin typeface="Calibri"/>
              </a:rPr>
              <a:t>DIY burden</a:t>
            </a:r>
            <a:r>
              <a:rPr sz="1500" b="0">
                <a:solidFill>
                  <a:srgbClr val="E7ECF3"/>
                </a:solidFill>
                <a:latin typeface="Calibri"/>
              </a:rPr>
              <a:t> — building filters is real work</a:t>
            </a:r>
          </a:p>
          <a:p>
            <a:pPr>
              <a:spcAft>
                <a:spcPts val="800"/>
              </a:spcAft>
            </a:pPr>
            <a:r>
              <a:rPr sz="1500">
                <a:solidFill>
                  <a:srgbClr val="7C6CFF"/>
                </a:solidFill>
                <a:latin typeface="Calibri"/>
              </a:rPr>
              <a:t>▸  </a:t>
            </a:r>
            <a:r>
              <a:rPr sz="1500" b="0">
                <a:solidFill>
                  <a:srgbClr val="E7ECF3"/>
                </a:solidFill>
                <a:latin typeface="Calibri"/>
              </a:rPr>
              <a:t>Users must also </a:t>
            </a:r>
            <a:r>
              <a:rPr sz="1500" b="1">
                <a:solidFill>
                  <a:srgbClr val="22D3EE"/>
                </a:solidFill>
                <a:latin typeface="Calibri"/>
              </a:rPr>
              <a:t>manage a library</a:t>
            </a:r>
            <a:r>
              <a:rPr sz="1500" b="0">
                <a:solidFill>
                  <a:srgbClr val="E7ECF3"/>
                </a:solidFill>
                <a:latin typeface="Calibri"/>
              </a:rPr>
              <a:t> and remember to launch the right filter at the right moment</a:t>
            </a:r>
          </a:p>
          <a:p>
            <a:pPr>
              <a:spcAft>
                <a:spcPts val="800"/>
              </a:spcAft>
            </a:pPr>
            <a:r>
              <a:rPr sz="1500">
                <a:solidFill>
                  <a:srgbClr val="7C6CFF"/>
                </a:solidFill>
                <a:latin typeface="Calibri"/>
              </a:rPr>
              <a:t>▸  </a:t>
            </a:r>
            <a:r>
              <a:rPr sz="1500" b="0">
                <a:solidFill>
                  <a:srgbClr val="E7ECF3"/>
                </a:solidFill>
                <a:latin typeface="Calibri"/>
              </a:rPr>
              <a:t>These weaken </a:t>
            </a:r>
            <a:r>
              <a:rPr sz="1500" b="1">
                <a:solidFill>
                  <a:srgbClr val="22D3EE"/>
                </a:solidFill>
                <a:latin typeface="Calibri"/>
              </a:rPr>
              <a:t>approachability</a:t>
            </a:r>
            <a:r>
              <a:rPr sz="1500" b="0">
                <a:solidFill>
                  <a:srgbClr val="E7ECF3"/>
                </a:solidFill>
                <a:latin typeface="Calibri"/>
              </a:rPr>
              <a:t> and </a:t>
            </a:r>
            <a:r>
              <a:rPr sz="1500" b="1">
                <a:solidFill>
                  <a:srgbClr val="22D3EE"/>
                </a:solidFill>
                <a:latin typeface="Calibri"/>
              </a:rPr>
              <a:t>efficiency</a:t>
            </a:r>
            <a:r>
              <a:rPr sz="1500" b="0">
                <a:solidFill>
                  <a:srgbClr val="E7ECF3"/>
                </a:solidFill>
                <a:latin typeface="Calibri"/>
              </a:rPr>
              <a:t> for the </a:t>
            </a:r>
            <a:r>
              <a:rPr sz="1500" b="1">
                <a:solidFill>
                  <a:srgbClr val="22D3EE"/>
                </a:solidFill>
                <a:latin typeface="Calibri"/>
              </a:rPr>
              <a:t>time-sensitive</a:t>
            </a:r>
            <a:r>
              <a:rPr sz="1500" b="0">
                <a:solidFill>
                  <a:srgbClr val="E7ECF3"/>
                </a:solidFill>
                <a:latin typeface="Calibri"/>
              </a:rPr>
              <a:t> and </a:t>
            </a:r>
            <a:r>
              <a:rPr sz="1500" b="1">
                <a:solidFill>
                  <a:srgbClr val="22D3EE"/>
                </a:solidFill>
                <a:latin typeface="Calibri"/>
              </a:rPr>
              <a:t>repetitive</a:t>
            </a:r>
            <a:r>
              <a:rPr sz="1500" b="0">
                <a:solidFill>
                  <a:srgbClr val="E7ECF3"/>
                </a:solidFill>
                <a:latin typeface="Calibri"/>
              </a:rPr>
              <a:t> tasks the paper targets</a:t>
            </a:r>
          </a:p>
          <a:p>
            <a:pPr>
              <a:spcAft>
                <a:spcPts val="800"/>
              </a:spcAft>
            </a:pPr>
            <a:r>
              <a:rPr sz="1500">
                <a:solidFill>
                  <a:srgbClr val="7C6CFF"/>
                </a:solidFill>
                <a:latin typeface="Calibri"/>
              </a:rPr>
              <a:t>▸  </a:t>
            </a:r>
            <a:r>
              <a:rPr sz="1500" b="1">
                <a:solidFill>
                  <a:srgbClr val="22D3EE"/>
                </a:solidFill>
                <a:latin typeface="Calibri"/>
              </a:rPr>
              <a:t>Goal: context-aware auto-triggering</a:t>
            </a:r>
            <a:r>
              <a:rPr sz="1500" b="0">
                <a:solidFill>
                  <a:srgbClr val="E7ECF3"/>
                </a:solidFill>
                <a:latin typeface="Calibri"/>
              </a:rPr>
              <a:t> — the right saved filter starts itself, no manual launch</a:t>
            </a:r>
          </a:p>
          <a:p>
            <a:pPr>
              <a:spcAft>
                <a:spcPts val="800"/>
              </a:spcAft>
            </a:pPr>
            <a:r>
              <a:rPr sz="1500">
                <a:solidFill>
                  <a:srgbClr val="7C6CFF"/>
                </a:solidFill>
                <a:latin typeface="Calibri"/>
              </a:rPr>
              <a:t>▸  </a:t>
            </a:r>
            <a:r>
              <a:rPr sz="1500" b="0">
                <a:solidFill>
                  <a:srgbClr val="E7ECF3"/>
                </a:solidFill>
                <a:latin typeface="Calibri"/>
              </a:rPr>
              <a:t>Keep the user </a:t>
            </a:r>
            <a:r>
              <a:rPr sz="1500" b="1">
                <a:solidFill>
                  <a:srgbClr val="22D3EE"/>
                </a:solidFill>
                <a:latin typeface="Calibri"/>
              </a:rPr>
              <a:t>in control</a:t>
            </a:r>
            <a:r>
              <a:rPr sz="1500" b="0">
                <a:solidFill>
                  <a:srgbClr val="E7ECF3"/>
                </a:solidFill>
                <a:latin typeface="Calibri"/>
              </a:rPr>
              <a:t>: every auto-trigger is a *suggestion* the user confirms, not silent automation</a:t>
            </a:r>
          </a:p>
          <a:p>
            <a:pPr>
              <a:spcAft>
                <a:spcPts val="800"/>
              </a:spcAft>
            </a:pPr>
            <a:r>
              <a:rPr sz="1500">
                <a:solidFill>
                  <a:srgbClr val="7C6CFF"/>
                </a:solidFill>
                <a:latin typeface="Calibri"/>
              </a:rPr>
              <a:t>▸  </a:t>
            </a:r>
            <a:r>
              <a:rPr sz="1500" b="0">
                <a:solidFill>
                  <a:srgbClr val="E7ECF3"/>
                </a:solidFill>
                <a:latin typeface="Calibri"/>
              </a:rPr>
              <a:t>Builds on the paper's own future work: trigger `find NUMBER on BUS` on arriving at a bus stop</a:t>
            </a:r>
          </a:p>
        </p:txBody>
      </p:sp>
      <p:sp>
        <p:nvSpPr>
          <p:cNvPr id="8" name="Rounded Rectangle 7"/>
          <p:cNvSpPr/>
          <p:nvPr/>
        </p:nvSpPr>
        <p:spPr>
          <a:xfrm>
            <a:off x="640080" y="5029200"/>
            <a:ext cx="10881360" cy="114300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r>
              <a:rPr sz="1600" i="1">
                <a:solidFill>
                  <a:srgbClr val="E7ECF3"/>
                </a:solidFill>
                <a:latin typeface="Calibri"/>
              </a:rPr>
              <a:t>“People are not developers... I have to spend 5 hours to tinker with a program for what?”</a:t>
            </a:r>
          </a:p>
          <a:p>
            <a:r>
              <a:rPr sz="1100">
                <a:solidFill>
                  <a:srgbClr val="22D3EE"/>
                </a:solidFill>
                <a:latin typeface="Calibri"/>
              </a:rPr>
              <a:t>— R1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9</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2 · My design — triggers as a fourth modality</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800"/>
              </a:spcAft>
            </a:pPr>
            <a:r>
              <a:rPr sz="1500">
                <a:solidFill>
                  <a:srgbClr val="7C6CFF"/>
                </a:solidFill>
                <a:latin typeface="Calibri"/>
              </a:rPr>
              <a:t>▸  </a:t>
            </a:r>
            <a:r>
              <a:rPr sz="1500" b="0">
                <a:solidFill>
                  <a:srgbClr val="E7ECF3"/>
                </a:solidFill>
                <a:latin typeface="Calibri"/>
              </a:rPr>
              <a:t>Add a </a:t>
            </a:r>
            <a:r>
              <a:rPr sz="1500" b="1">
                <a:solidFill>
                  <a:srgbClr val="22D3EE"/>
                </a:solidFill>
                <a:latin typeface="Calibri"/>
              </a:rPr>
              <a:t>trigger</a:t>
            </a:r>
            <a:r>
              <a:rPr sz="1500" b="0">
                <a:solidFill>
                  <a:srgbClr val="E7ECF3"/>
                </a:solidFill>
                <a:latin typeface="Calibri"/>
              </a:rPr>
              <a:t> to any saved filter: by </a:t>
            </a:r>
            <a:r>
              <a:rPr sz="1500" b="1">
                <a:solidFill>
                  <a:srgbClr val="22D3EE"/>
                </a:solidFill>
                <a:latin typeface="Calibri"/>
              </a:rPr>
              <a:t>location</a:t>
            </a:r>
            <a:r>
              <a:rPr sz="1500" b="0">
                <a:solidFill>
                  <a:srgbClr val="E7ECF3"/>
                </a:solidFill>
                <a:latin typeface="Calibri"/>
              </a:rPr>
              <a:t> (bus stop), by </a:t>
            </a:r>
            <a:r>
              <a:rPr sz="1500" b="1">
                <a:solidFill>
                  <a:srgbClr val="22D3EE"/>
                </a:solidFill>
                <a:latin typeface="Calibri"/>
              </a:rPr>
              <a:t>time</a:t>
            </a:r>
            <a:r>
              <a:rPr sz="1500" b="0">
                <a:solidFill>
                  <a:srgbClr val="E7ECF3"/>
                </a:solidFill>
                <a:latin typeface="Calibri"/>
              </a:rPr>
              <a:t>, or by </a:t>
            </a:r>
            <a:r>
              <a:rPr sz="1500" b="1">
                <a:solidFill>
                  <a:srgbClr val="22D3EE"/>
                </a:solidFill>
                <a:latin typeface="Calibri"/>
              </a:rPr>
              <a:t>object-in-frame</a:t>
            </a:r>
          </a:p>
          <a:p>
            <a:pPr>
              <a:spcAft>
                <a:spcPts val="800"/>
              </a:spcAft>
            </a:pPr>
            <a:r>
              <a:rPr sz="1500">
                <a:solidFill>
                  <a:srgbClr val="7C6CFF"/>
                </a:solidFill>
                <a:latin typeface="Calibri"/>
              </a:rPr>
              <a:t>▸  </a:t>
            </a:r>
            <a:r>
              <a:rPr sz="1500" b="0">
                <a:solidFill>
                  <a:srgbClr val="E7ECF3"/>
                </a:solidFill>
                <a:latin typeface="Calibri"/>
              </a:rPr>
              <a:t>Reuse the existing </a:t>
            </a:r>
            <a:r>
              <a:rPr sz="1500" b="1">
                <a:solidFill>
                  <a:srgbClr val="22D3EE"/>
                </a:solidFill>
                <a:latin typeface="Calibri"/>
              </a:rPr>
              <a:t>block editor</a:t>
            </a:r>
            <a:r>
              <a:rPr sz="1500" b="0">
                <a:solidFill>
                  <a:srgbClr val="E7ECF3"/>
                </a:solidFill>
                <a:latin typeface="Calibri"/>
              </a:rPr>
              <a:t> as the shared substrate — add a `WHEN ... RUN &lt;filter&gt;` block</a:t>
            </a:r>
          </a:p>
          <a:p>
            <a:pPr>
              <a:spcAft>
                <a:spcPts val="800"/>
              </a:spcAft>
            </a:pPr>
            <a:r>
              <a:rPr sz="1500">
                <a:solidFill>
                  <a:srgbClr val="7C6CFF"/>
                </a:solidFill>
                <a:latin typeface="Calibri"/>
              </a:rPr>
              <a:t>▸  </a:t>
            </a:r>
            <a:r>
              <a:rPr sz="1500" b="0">
                <a:solidFill>
                  <a:srgbClr val="E7ECF3"/>
                </a:solidFill>
                <a:latin typeface="Calibri"/>
              </a:rPr>
              <a:t>Trigger fires a </a:t>
            </a:r>
            <a:r>
              <a:rPr sz="1500" b="1">
                <a:solidFill>
                  <a:srgbClr val="22D3EE"/>
                </a:solidFill>
                <a:latin typeface="Calibri"/>
              </a:rPr>
              <a:t>gentle audio or Braille prompt</a:t>
            </a:r>
            <a:r>
              <a:rPr sz="1500" b="0">
                <a:solidFill>
                  <a:srgbClr val="E7ECF3"/>
                </a:solidFill>
                <a:latin typeface="Calibri"/>
              </a:rPr>
              <a:t>: 'Bus stop nearby — run bus filter?' (respects </a:t>
            </a:r>
            <a:r>
              <a:rPr sz="1500" b="1">
                <a:solidFill>
                  <a:srgbClr val="22D3EE"/>
                </a:solidFill>
                <a:latin typeface="Calibri"/>
              </a:rPr>
              <a:t>social context</a:t>
            </a:r>
            <a:r>
              <a:rPr sz="1500" b="0">
                <a:solidFill>
                  <a:srgbClr val="E7ECF3"/>
                </a:solidFill>
                <a:latin typeface="Calibri"/>
              </a:rPr>
              <a:t>)</a:t>
            </a:r>
          </a:p>
          <a:p>
            <a:pPr>
              <a:spcAft>
                <a:spcPts val="800"/>
              </a:spcAft>
            </a:pPr>
            <a:r>
              <a:rPr sz="1500">
                <a:solidFill>
                  <a:srgbClr val="7C6CFF"/>
                </a:solidFill>
                <a:latin typeface="Calibri"/>
              </a:rPr>
              <a:t>▸  </a:t>
            </a:r>
            <a:r>
              <a:rPr sz="1500" b="0">
                <a:solidFill>
                  <a:srgbClr val="E7ECF3"/>
                </a:solidFill>
                <a:latin typeface="Calibri"/>
              </a:rPr>
              <a:t>Honour the </a:t>
            </a:r>
            <a:r>
              <a:rPr sz="1500" b="1">
                <a:solidFill>
                  <a:srgbClr val="22D3EE"/>
                </a:solidFill>
                <a:latin typeface="Calibri"/>
              </a:rPr>
              <a:t>interaction qualities</a:t>
            </a:r>
            <a:r>
              <a:rPr sz="1500" b="0">
                <a:solidFill>
                  <a:srgbClr val="E7ECF3"/>
                </a:solidFill>
                <a:latin typeface="Calibri"/>
              </a:rPr>
              <a:t>: less </a:t>
            </a:r>
            <a:r>
              <a:rPr sz="1500" b="1">
                <a:solidFill>
                  <a:srgbClr val="22D3EE"/>
                </a:solidFill>
                <a:latin typeface="Calibri"/>
              </a:rPr>
              <a:t>interaction cost</a:t>
            </a:r>
            <a:r>
              <a:rPr sz="1500" b="0">
                <a:solidFill>
                  <a:srgbClr val="E7ECF3"/>
                </a:solidFill>
                <a:latin typeface="Calibri"/>
              </a:rPr>
              <a:t>, more </a:t>
            </a:r>
            <a:r>
              <a:rPr sz="1500" b="1">
                <a:solidFill>
                  <a:srgbClr val="22D3EE"/>
                </a:solidFill>
                <a:latin typeface="Calibri"/>
              </a:rPr>
              <a:t>discoverability</a:t>
            </a:r>
            <a:r>
              <a:rPr sz="1500" b="0">
                <a:solidFill>
                  <a:srgbClr val="E7ECF3"/>
                </a:solidFill>
                <a:latin typeface="Calibri"/>
              </a:rPr>
              <a:t> of which filter fits *now*</a:t>
            </a:r>
          </a:p>
          <a:p>
            <a:pPr>
              <a:spcAft>
                <a:spcPts val="800"/>
              </a:spcAft>
            </a:pPr>
            <a:r>
              <a:rPr sz="1500">
                <a:solidFill>
                  <a:srgbClr val="7C6CFF"/>
                </a:solidFill>
                <a:latin typeface="Calibri"/>
              </a:rPr>
              <a:t>▸  </a:t>
            </a:r>
            <a:r>
              <a:rPr sz="1500" b="0">
                <a:solidFill>
                  <a:srgbClr val="E7ECF3"/>
                </a:solidFill>
                <a:latin typeface="Calibri"/>
              </a:rPr>
              <a:t>Address </a:t>
            </a:r>
            <a:r>
              <a:rPr sz="1500" b="1">
                <a:solidFill>
                  <a:srgbClr val="22D3EE"/>
                </a:solidFill>
                <a:latin typeface="Calibri"/>
              </a:rPr>
              <a:t>unknown-unknowns</a:t>
            </a:r>
            <a:r>
              <a:rPr sz="1500" b="0">
                <a:solidFill>
                  <a:srgbClr val="E7ECF3"/>
                </a:solidFill>
                <a:latin typeface="Calibri"/>
              </a:rPr>
              <a:t> of the library: the app proposes filters you already made for this place</a:t>
            </a:r>
          </a:p>
          <a:p>
            <a:pPr>
              <a:spcAft>
                <a:spcPts val="800"/>
              </a:spcAft>
            </a:pPr>
            <a:r>
              <a:rPr sz="1500">
                <a:solidFill>
                  <a:srgbClr val="7C6CFF"/>
                </a:solidFill>
                <a:latin typeface="Calibri"/>
              </a:rPr>
              <a:t>▸  </a:t>
            </a:r>
            <a:r>
              <a:rPr sz="1500" b="0">
                <a:solidFill>
                  <a:srgbClr val="E7ECF3"/>
                </a:solidFill>
                <a:latin typeface="Calibri"/>
              </a:rPr>
              <a:t>Stays a </a:t>
            </a:r>
            <a:r>
              <a:rPr sz="1500" b="1">
                <a:solidFill>
                  <a:srgbClr val="22D3EE"/>
                </a:solidFill>
                <a:latin typeface="Calibri"/>
              </a:rPr>
              <a:t>supplement</a:t>
            </a:r>
            <a:r>
              <a:rPr sz="1500" b="0">
                <a:solidFill>
                  <a:srgbClr val="E7ECF3"/>
                </a:solidFill>
                <a:latin typeface="Calibri"/>
              </a:rPr>
              <a:t> to the user's intent — confirm-to-run keeps the </a:t>
            </a:r>
            <a:r>
              <a:rPr sz="1500" b="1">
                <a:solidFill>
                  <a:srgbClr val="22D3EE"/>
                </a:solidFill>
                <a:latin typeface="Calibri"/>
              </a:rPr>
              <a:t>direct-manipulation</a:t>
            </a:r>
            <a:r>
              <a:rPr sz="1500" b="0">
                <a:solidFill>
                  <a:srgbClr val="E7ECF3"/>
                </a:solidFill>
                <a:latin typeface="Calibri"/>
              </a:rPr>
              <a:t> control the paper values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10</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My study — 9 steps (context-aware auto-triggering)</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1554480"/>
          <a:ext cx="10927079" cy="4572000"/>
        </p:xfrm>
        <a:graphic>
          <a:graphicData uri="http://schemas.openxmlformats.org/drawingml/2006/table">
            <a:tbl>
              <a:tblPr firstRow="1" bandRow="1">
                <a:tableStyleId>{5C22544A-7EE6-4342-B048-85BDC9FD1C3A}</a:tableStyleId>
              </a:tblPr>
              <a:tblGrid>
                <a:gridCol w="2743200"/>
                <a:gridCol w="8183879"/>
              </a:tblGrid>
              <a:tr h="457200">
                <a:tc>
                  <a:txBody>
                    <a:bodyPr wrap="square"/>
                    <a:lstStyle/>
                    <a:p>
                      <a:r>
                        <a:rPr sz="1300" b="1">
                          <a:solidFill>
                            <a:srgbClr val="0E1116"/>
                          </a:solidFill>
                          <a:latin typeface="Calibri"/>
                        </a:rPr>
                        <a:t>Step</a:t>
                      </a:r>
                    </a:p>
                  </a:txBody>
                  <a:tcPr marL="109728" marT="27432" marB="27432" anchor="ctr">
                    <a:solidFill>
                      <a:srgbClr val="7C6CFF"/>
                    </a:solidFill>
                  </a:tcPr>
                </a:tc>
                <a:tc>
                  <a:txBody>
                    <a:bodyPr wrap="square"/>
                    <a:lstStyle/>
                    <a:p>
                      <a:r>
                        <a:rPr sz="1300" b="1">
                          <a:solidFill>
                            <a:srgbClr val="0E1116"/>
                          </a:solidFill>
                          <a:latin typeface="Calibri"/>
                        </a:rPr>
                        <a:t>My choice</a:t>
                      </a:r>
                    </a:p>
                  </a:txBody>
                  <a:tcPr marL="109728" marT="27432" marB="27432" anchor="ctr">
                    <a:solidFill>
                      <a:srgbClr val="7C6CFF"/>
                    </a:solidFill>
                  </a:tcPr>
                </a:tc>
              </a:tr>
              <a:tr h="457200">
                <a:tc>
                  <a:txBody>
                    <a:bodyPr wrap="square"/>
                    <a:lstStyle/>
                    <a:p>
                      <a:r>
                        <a:rPr sz="1150" b="1">
                          <a:solidFill>
                            <a:srgbClr val="E7ECF3"/>
                          </a:solidFill>
                          <a:latin typeface="Calibri"/>
                        </a:rPr>
                        <a:t>1 Goal</a:t>
                      </a:r>
                    </a:p>
                  </a:txBody>
                  <a:tcPr marL="109728" marT="27432" marB="27432" anchor="ctr">
                    <a:solidFill>
                      <a:srgbClr val="161B26"/>
                    </a:solidFill>
                  </a:tcPr>
                </a:tc>
                <a:tc>
                  <a:txBody>
                    <a:bodyPr wrap="square"/>
                    <a:lstStyle/>
                    <a:p>
                      <a:r>
                        <a:rPr sz="1150" b="0">
                          <a:solidFill>
                            <a:srgbClr val="B6BFCF"/>
                          </a:solidFill>
                          <a:latin typeface="Calibri"/>
                        </a:rPr>
                        <a:t>Test if auto-triggering cuts DIY/launch burden without losing user control or trust</a:t>
                      </a:r>
                    </a:p>
                  </a:txBody>
                  <a:tcPr marL="109728" marT="27432" marB="27432" anchor="ctr">
                    <a:solidFill>
                      <a:srgbClr val="161B26"/>
                    </a:solidFill>
                  </a:tcPr>
                </a:tc>
              </a:tr>
              <a:tr h="457200">
                <a:tc>
                  <a:txBody>
                    <a:bodyPr wrap="square"/>
                    <a:lstStyle/>
                    <a:p>
                      <a:r>
                        <a:rPr sz="1150" b="1">
                          <a:solidFill>
                            <a:srgbClr val="E7ECF3"/>
                          </a:solidFill>
                          <a:latin typeface="Calibri"/>
                        </a:rPr>
                        <a:t>2 Worldview</a:t>
                      </a:r>
                    </a:p>
                  </a:txBody>
                  <a:tcPr marL="109728" marT="27432" marB="27432" anchor="ctr">
                    <a:solidFill>
                      <a:srgbClr val="1E2533"/>
                    </a:solidFill>
                  </a:tcPr>
                </a:tc>
                <a:tc>
                  <a:txBody>
                    <a:bodyPr wrap="square"/>
                    <a:lstStyle/>
                    <a:p>
                      <a:r>
                        <a:rPr sz="1150" b="0">
                          <a:solidFill>
                            <a:srgbClr val="B6BFCF"/>
                          </a:solidFill>
                          <a:latin typeface="Calibri"/>
                        </a:rPr>
                        <a:t>Interpretivist-led mixed-methods, like the paper — but add light behavioural counts</a:t>
                      </a:r>
                    </a:p>
                  </a:txBody>
                  <a:tcPr marL="109728" marT="27432" marB="27432" anchor="ctr">
                    <a:solidFill>
                      <a:srgbClr val="1E2533"/>
                    </a:solidFill>
                  </a:tcPr>
                </a:tc>
              </a:tr>
              <a:tr h="457200">
                <a:tc>
                  <a:txBody>
                    <a:bodyPr wrap="square"/>
                    <a:lstStyle/>
                    <a:p>
                      <a:r>
                        <a:rPr sz="1150" b="1">
                          <a:solidFill>
                            <a:srgbClr val="E7ECF3"/>
                          </a:solidFill>
                          <a:latin typeface="Calibri"/>
                        </a:rPr>
                        <a:t>3 Method / design</a:t>
                      </a:r>
                    </a:p>
                  </a:txBody>
                  <a:tcPr marL="109728" marT="27432" marB="27432" anchor="ctr">
                    <a:solidFill>
                      <a:srgbClr val="161B26"/>
                    </a:solidFill>
                  </a:tcPr>
                </a:tc>
                <a:tc>
                  <a:txBody>
                    <a:bodyPr wrap="square"/>
                    <a:lstStyle/>
                    <a:p>
                      <a:r>
                        <a:rPr sz="1150" b="0">
                          <a:solidFill>
                            <a:srgbClr val="B6BFCF"/>
                          </a:solidFill>
                          <a:latin typeface="Calibri"/>
                        </a:rPr>
                        <a:t>Quasi-experiment: within-subjects, manual-launch vs auto-trigger; no formal hypothesis test</a:t>
                      </a:r>
                    </a:p>
                  </a:txBody>
                  <a:tcPr marL="109728" marT="27432" marB="27432" anchor="ctr">
                    <a:solidFill>
                      <a:srgbClr val="161B26"/>
                    </a:solidFill>
                  </a:tcPr>
                </a:tc>
              </a:tr>
              <a:tr h="457200">
                <a:tc>
                  <a:txBody>
                    <a:bodyPr wrap="square"/>
                    <a:lstStyle/>
                    <a:p>
                      <a:r>
                        <a:rPr sz="1150" b="1">
                          <a:solidFill>
                            <a:srgbClr val="E7ECF3"/>
                          </a:solidFill>
                          <a:latin typeface="Calibri"/>
                        </a:rPr>
                        <a:t>4 Setting + time</a:t>
                      </a:r>
                    </a:p>
                  </a:txBody>
                  <a:tcPr marL="109728" marT="27432" marB="27432" anchor="ctr">
                    <a:solidFill>
                      <a:srgbClr val="1E2533"/>
                    </a:solidFill>
                  </a:tcPr>
                </a:tc>
                <a:tc>
                  <a:txBody>
                    <a:bodyPr wrap="square"/>
                    <a:lstStyle/>
                    <a:p>
                      <a:r>
                        <a:rPr sz="1150" b="0">
                          <a:solidFill>
                            <a:srgbClr val="B6BFCF"/>
                          </a:solidFill>
                          <a:latin typeface="Calibri"/>
                        </a:rPr>
                        <a:t>In-the-wild diary deployment, 2 weeks (longitudinal) — fixes paper's single-session lab gap</a:t>
                      </a:r>
                    </a:p>
                  </a:txBody>
                  <a:tcPr marL="109728" marT="27432" marB="27432" anchor="ctr">
                    <a:solidFill>
                      <a:srgbClr val="1E2533"/>
                    </a:solidFill>
                  </a:tcPr>
                </a:tc>
              </a:tr>
              <a:tr h="457200">
                <a:tc>
                  <a:txBody>
                    <a:bodyPr wrap="square"/>
                    <a:lstStyle/>
                    <a:p>
                      <a:r>
                        <a:rPr sz="1150" b="1">
                          <a:solidFill>
                            <a:srgbClr val="E7ECF3"/>
                          </a:solidFill>
                          <a:latin typeface="Calibri"/>
                        </a:rPr>
                        <a:t>5 Design details</a:t>
                      </a:r>
                    </a:p>
                  </a:txBody>
                  <a:tcPr marL="109728" marT="27432" marB="27432" anchor="ctr">
                    <a:solidFill>
                      <a:srgbClr val="161B26"/>
                    </a:solidFill>
                  </a:tcPr>
                </a:tc>
                <a:tc>
                  <a:txBody>
                    <a:bodyPr wrap="square"/>
                    <a:lstStyle/>
                    <a:p>
                      <a:r>
                        <a:rPr sz="1150" b="0">
                          <a:solidFill>
                            <a:srgbClr val="B6BFCF"/>
                          </a:solidFill>
                          <a:latin typeface="Calibri"/>
                        </a:rPr>
                        <a:t>Pre-built triggered filters (bus, mail, grocery); confirm-to-run prompt; VoiceOver + Braille</a:t>
                      </a:r>
                    </a:p>
                  </a:txBody>
                  <a:tcPr marL="109728" marT="27432" marB="27432" anchor="ctr">
                    <a:solidFill>
                      <a:srgbClr val="161B26"/>
                    </a:solidFill>
                  </a:tcPr>
                </a:tc>
              </a:tr>
              <a:tr h="457200">
                <a:tc>
                  <a:txBody>
                    <a:bodyPr wrap="square"/>
                    <a:lstStyle/>
                    <a:p>
                      <a:r>
                        <a:rPr sz="1150" b="1">
                          <a:solidFill>
                            <a:srgbClr val="E7ECF3"/>
                          </a:solidFill>
                          <a:latin typeface="Calibri"/>
                        </a:rPr>
                        <a:t>6 Participants</a:t>
                      </a:r>
                    </a:p>
                  </a:txBody>
                  <a:tcPr marL="109728" marT="27432" marB="27432" anchor="ctr">
                    <a:solidFill>
                      <a:srgbClr val="1E2533"/>
                    </a:solidFill>
                  </a:tcPr>
                </a:tc>
                <a:tc>
                  <a:txBody>
                    <a:bodyPr wrap="square"/>
                    <a:lstStyle/>
                    <a:p>
                      <a:r>
                        <a:rPr sz="1150" b="0">
                          <a:solidFill>
                            <a:srgbClr val="B6BFCF"/>
                          </a:solidFill>
                          <a:latin typeface="Calibri"/>
                        </a:rPr>
                        <a:t>12–16 BLV screen-reader iPhone users via accessibility orgs + snowball; mix prior-AT experience</a:t>
                      </a:r>
                    </a:p>
                  </a:txBody>
                  <a:tcPr marL="109728" marT="27432" marB="27432" anchor="ctr">
                    <a:solidFill>
                      <a:srgbClr val="1E2533"/>
                    </a:solidFill>
                  </a:tcPr>
                </a:tc>
              </a:tr>
              <a:tr h="457200">
                <a:tc>
                  <a:txBody>
                    <a:bodyPr wrap="square"/>
                    <a:lstStyle/>
                    <a:p>
                      <a:r>
                        <a:rPr sz="1150" b="1">
                          <a:solidFill>
                            <a:srgbClr val="E7ECF3"/>
                          </a:solidFill>
                          <a:latin typeface="Calibri"/>
                        </a:rPr>
                        <a:t>7 Procedure</a:t>
                      </a:r>
                    </a:p>
                  </a:txBody>
                  <a:tcPr marL="109728" marT="27432" marB="27432" anchor="ctr">
                    <a:solidFill>
                      <a:srgbClr val="161B26"/>
                    </a:solidFill>
                  </a:tcPr>
                </a:tc>
                <a:tc>
                  <a:txBody>
                    <a:bodyPr wrap="square"/>
                    <a:lstStyle/>
                    <a:p>
                      <a:r>
                        <a:rPr sz="1150" b="0">
                          <a:solidFill>
                            <a:srgbClr val="B6BFCF"/>
                          </a:solidFill>
                          <a:latin typeface="Calibri"/>
                        </a:rPr>
                        <a:t>Onboard + set triggers; live 2 weeks; experience-sampling on each trigger; exit interview</a:t>
                      </a:r>
                    </a:p>
                  </a:txBody>
                  <a:tcPr marL="109728" marT="27432" marB="27432" anchor="ctr">
                    <a:solidFill>
                      <a:srgbClr val="161B26"/>
                    </a:solidFill>
                  </a:tcPr>
                </a:tc>
              </a:tr>
              <a:tr h="457200">
                <a:tc>
                  <a:txBody>
                    <a:bodyPr wrap="square"/>
                    <a:lstStyle/>
                    <a:p>
                      <a:r>
                        <a:rPr sz="1150" b="1">
                          <a:solidFill>
                            <a:srgbClr val="E7ECF3"/>
                          </a:solidFill>
                          <a:latin typeface="Calibri"/>
                        </a:rPr>
                        <a:t>8 Data</a:t>
                      </a:r>
                    </a:p>
                  </a:txBody>
                  <a:tcPr marL="109728" marT="27432" marB="27432" anchor="ctr">
                    <a:solidFill>
                      <a:srgbClr val="1E2533"/>
                    </a:solidFill>
                  </a:tcPr>
                </a:tc>
                <a:tc>
                  <a:txBody>
                    <a:bodyPr wrap="square"/>
                    <a:lstStyle/>
                    <a:p>
                      <a:r>
                        <a:rPr sz="1150" b="0">
                          <a:solidFill>
                            <a:srgbClr val="B6BFCF"/>
                          </a:solidFill>
                          <a:latin typeface="Calibri"/>
                        </a:rPr>
                        <a:t>Qualitative diary + interview (primary); logged trigger accepts/dismisses + perceived-effort Likert</a:t>
                      </a:r>
                    </a:p>
                  </a:txBody>
                  <a:tcPr marL="109728" marT="27432" marB="27432" anchor="ctr">
                    <a:solidFill>
                      <a:srgbClr val="1E2533"/>
                    </a:solidFill>
                  </a:tcPr>
                </a:tc>
              </a:tr>
              <a:tr h="457200">
                <a:tc>
                  <a:txBody>
                    <a:bodyPr wrap="square"/>
                    <a:lstStyle/>
                    <a:p>
                      <a:r>
                        <a:rPr sz="1150" b="1">
                          <a:solidFill>
                            <a:srgbClr val="E7ECF3"/>
                          </a:solidFill>
                          <a:latin typeface="Calibri"/>
                        </a:rPr>
                        <a:t>9 Analysis + findings</a:t>
                      </a:r>
                    </a:p>
                  </a:txBody>
                  <a:tcPr marL="109728" marT="27432" marB="27432" anchor="ctr">
                    <a:solidFill>
                      <a:srgbClr val="161B26"/>
                    </a:solidFill>
                  </a:tcPr>
                </a:tc>
                <a:tc>
                  <a:txBody>
                    <a:bodyPr wrap="square"/>
                    <a:lstStyle/>
                    <a:p>
                      <a:r>
                        <a:rPr sz="1150" b="0">
                          <a:solidFill>
                            <a:srgbClr val="B6BFCF"/>
                          </a:solidFill>
                          <a:latin typeface="Calibri"/>
                        </a:rPr>
                        <a:t>Qualitative themes on trust/burden; descriptive accept-rate; report by task &amp; context, no p-hunting</a:t>
                      </a:r>
                    </a:p>
                  </a:txBody>
                  <a:tcPr marL="109728" marT="27432" marB="27432" anchor="ctr">
                    <a:solidFill>
                      <a:srgbClr val="161B26"/>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2468880"/>
            <a:ext cx="12191695" cy="192024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743200"/>
            <a:ext cx="10515600" cy="1463040"/>
          </a:xfrm>
          <a:prstGeom prst="rect">
            <a:avLst/>
          </a:prstGeom>
          <a:noFill/>
        </p:spPr>
        <p:txBody>
          <a:bodyPr wrap="square">
            <a:spAutoFit/>
          </a:bodyPr>
          <a:lstStyle/>
          <a:p>
            <a:r>
              <a:rPr sz="4000" b="1">
                <a:solidFill>
                  <a:srgbClr val="E7ECF3"/>
                </a:solidFill>
                <a:latin typeface="Calibri"/>
              </a:rPr>
              <a:t>Thank you</a:t>
            </a:r>
          </a:p>
          <a:p>
            <a:r>
              <a:rPr sz="1800">
                <a:solidFill>
                  <a:srgbClr val="22D3EE"/>
                </a:solidFill>
                <a:latin typeface="Calibri"/>
              </a:rPr>
              <a:t>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2377440"/>
            <a:ext cx="12191695" cy="210312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97480"/>
            <a:ext cx="10515600" cy="1280160"/>
          </a:xfrm>
          <a:prstGeom prst="rect">
            <a:avLst/>
          </a:prstGeom>
          <a:noFill/>
        </p:spPr>
        <p:txBody>
          <a:bodyPr wrap="square">
            <a:spAutoFit/>
          </a:bodyPr>
          <a:lstStyle/>
          <a:p>
            <a:r>
              <a:rPr sz="3800" b="1">
                <a:solidFill>
                  <a:srgbClr val="E7ECF3"/>
                </a:solidFill>
                <a:latin typeface="Calibri"/>
              </a:rPr>
              <a:t>BACKUP SLIDES</a:t>
            </a:r>
          </a:p>
          <a:p>
            <a:r>
              <a:rPr sz="1600">
                <a:solidFill>
                  <a:srgbClr val="22D3EE"/>
                </a:solidFill>
                <a:latin typeface="Calibri"/>
              </a:rPr>
              <a:t>For Q&amp;A — not part of the timed talk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11</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Paper at a glance — classification</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1554480"/>
          <a:ext cx="10927080" cy="4572000"/>
        </p:xfrm>
        <a:graphic>
          <a:graphicData uri="http://schemas.openxmlformats.org/drawingml/2006/table">
            <a:tbl>
              <a:tblPr firstRow="1" bandRow="1">
                <a:tableStyleId>{5C22544A-7EE6-4342-B048-85BDC9FD1C3A}</a:tableStyleId>
              </a:tblPr>
              <a:tblGrid>
                <a:gridCol w="2926080"/>
                <a:gridCol w="8001000"/>
              </a:tblGrid>
              <a:tr h="381000">
                <a:tc>
                  <a:txBody>
                    <a:bodyPr wrap="square"/>
                    <a:lstStyle/>
                    <a:p>
                      <a:r>
                        <a:rPr sz="1300" b="1">
                          <a:solidFill>
                            <a:srgbClr val="0E1116"/>
                          </a:solidFill>
                          <a:latin typeface="Calibri"/>
                        </a:rPr>
                        <a:t>Dimension</a:t>
                      </a:r>
                    </a:p>
                  </a:txBody>
                  <a:tcPr marL="109728" marT="27432" marB="27432" anchor="ctr">
                    <a:solidFill>
                      <a:srgbClr val="7C6CFF"/>
                    </a:solidFill>
                  </a:tcPr>
                </a:tc>
                <a:tc>
                  <a:txBody>
                    <a:bodyPr wrap="square"/>
                    <a:lstStyle/>
                    <a:p>
                      <a:r>
                        <a:rPr sz="1300" b="1">
                          <a:solidFill>
                            <a:srgbClr val="0E1116"/>
                          </a:solidFill>
                          <a:latin typeface="Calibri"/>
                        </a:rPr>
                        <a:t>Classification</a:t>
                      </a:r>
                    </a:p>
                  </a:txBody>
                  <a:tcPr marL="109728" marT="27432" marB="27432" anchor="ctr">
                    <a:solidFill>
                      <a:srgbClr val="7C6CFF"/>
                    </a:solidFill>
                  </a:tcPr>
                </a:tc>
              </a:tr>
              <a:tr h="381000">
                <a:tc>
                  <a:txBody>
                    <a:bodyPr wrap="square"/>
                    <a:lstStyle/>
                    <a:p>
                      <a:r>
                        <a:rPr sz="1150" b="1">
                          <a:solidFill>
                            <a:srgbClr val="E7ECF3"/>
                          </a:solidFill>
                          <a:latin typeface="Calibri"/>
                        </a:rPr>
                        <a:t>Contribution type</a:t>
                      </a:r>
                    </a:p>
                  </a:txBody>
                  <a:tcPr marL="109728" marT="27432" marB="27432" anchor="ctr">
                    <a:solidFill>
                      <a:srgbClr val="161B26"/>
                    </a:solidFill>
                  </a:tcPr>
                </a:tc>
                <a:tc>
                  <a:txBody>
                    <a:bodyPr wrap="square"/>
                    <a:lstStyle/>
                    <a:p>
                      <a:r>
                        <a:rPr sz="1150" b="0">
                          <a:solidFill>
                            <a:srgbClr val="B6BFCF"/>
                          </a:solidFill>
                          <a:latin typeface="Calibri"/>
                        </a:rPr>
                        <a:t>Artifact (primary) + Empirical (secondary)</a:t>
                      </a:r>
                    </a:p>
                  </a:txBody>
                  <a:tcPr marL="109728" marT="27432" marB="27432" anchor="ctr">
                    <a:solidFill>
                      <a:srgbClr val="161B26"/>
                    </a:solidFill>
                  </a:tcPr>
                </a:tc>
              </a:tr>
              <a:tr h="381000">
                <a:tc>
                  <a:txBody>
                    <a:bodyPr wrap="square"/>
                    <a:lstStyle/>
                    <a:p>
                      <a:r>
                        <a:rPr sz="1150" b="1">
                          <a:solidFill>
                            <a:srgbClr val="E7ECF3"/>
                          </a:solidFill>
                          <a:latin typeface="Calibri"/>
                        </a:rPr>
                        <a:t>Worldview</a:t>
                      </a:r>
                    </a:p>
                  </a:txBody>
                  <a:tcPr marL="109728" marT="27432" marB="27432" anchor="ctr">
                    <a:solidFill>
                      <a:srgbClr val="1E2533"/>
                    </a:solidFill>
                  </a:tcPr>
                </a:tc>
                <a:tc>
                  <a:txBody>
                    <a:bodyPr wrap="square"/>
                    <a:lstStyle/>
                    <a:p>
                      <a:r>
                        <a:rPr sz="1150" b="0">
                          <a:solidFill>
                            <a:srgbClr val="B6BFCF"/>
                          </a:solidFill>
                          <a:latin typeface="Calibri"/>
                        </a:rPr>
                        <a:t>Interpretivist; mixed-methods leaning qualitative</a:t>
                      </a:r>
                    </a:p>
                  </a:txBody>
                  <a:tcPr marL="109728" marT="27432" marB="27432" anchor="ctr">
                    <a:solidFill>
                      <a:srgbClr val="1E2533"/>
                    </a:solidFill>
                  </a:tcPr>
                </a:tc>
              </a:tr>
              <a:tr h="381000">
                <a:tc>
                  <a:txBody>
                    <a:bodyPr wrap="square"/>
                    <a:lstStyle/>
                    <a:p>
                      <a:r>
                        <a:rPr sz="1150" b="1">
                          <a:solidFill>
                            <a:srgbClr val="E7ECF3"/>
                          </a:solidFill>
                          <a:latin typeface="Calibri"/>
                        </a:rPr>
                        <a:t>Design</a:t>
                      </a:r>
                    </a:p>
                  </a:txBody>
                  <a:tcPr marL="109728" marT="27432" marB="27432" anchor="ctr">
                    <a:solidFill>
                      <a:srgbClr val="161B26"/>
                    </a:solidFill>
                  </a:tcPr>
                </a:tc>
                <a:tc>
                  <a:txBody>
                    <a:bodyPr wrap="square"/>
                    <a:lstStyle/>
                    <a:p>
                      <a:r>
                        <a:rPr sz="1150" b="0">
                          <a:solidFill>
                            <a:srgbClr val="B6BFCF"/>
                          </a:solidFill>
                          <a:latin typeface="Calibri"/>
                        </a:rPr>
                        <a:t>Non-experiment — qualitative usability study (no IV/DV, no control)</a:t>
                      </a:r>
                    </a:p>
                  </a:txBody>
                  <a:tcPr marL="109728" marT="27432" marB="27432" anchor="ctr">
                    <a:solidFill>
                      <a:srgbClr val="161B26"/>
                    </a:solidFill>
                  </a:tcPr>
                </a:tc>
              </a:tr>
              <a:tr h="381000">
                <a:tc>
                  <a:txBody>
                    <a:bodyPr wrap="square"/>
                    <a:lstStyle/>
                    <a:p>
                      <a:r>
                        <a:rPr sz="1150" b="1">
                          <a:solidFill>
                            <a:srgbClr val="E7ECF3"/>
                          </a:solidFill>
                          <a:latin typeface="Calibri"/>
                        </a:rPr>
                        <a:t>Setting</a:t>
                      </a:r>
                    </a:p>
                  </a:txBody>
                  <a:tcPr marL="109728" marT="27432" marB="27432" anchor="ctr">
                    <a:solidFill>
                      <a:srgbClr val="1E2533"/>
                    </a:solidFill>
                  </a:tcPr>
                </a:tc>
                <a:tc>
                  <a:txBody>
                    <a:bodyPr wrap="square"/>
                    <a:lstStyle/>
                    <a:p>
                      <a:r>
                        <a:rPr sz="1150" b="0">
                          <a:solidFill>
                            <a:srgbClr val="B6BFCF"/>
                          </a:solidFill>
                          <a:latin typeface="Calibri"/>
                        </a:rPr>
                        <a:t>Mixed: remote (Zoom) + in-person lab with props (not in-the-wild)</a:t>
                      </a:r>
                    </a:p>
                  </a:txBody>
                  <a:tcPr marL="109728" marT="27432" marB="27432" anchor="ctr">
                    <a:solidFill>
                      <a:srgbClr val="1E2533"/>
                    </a:solidFill>
                  </a:tcPr>
                </a:tc>
              </a:tr>
              <a:tr h="381000">
                <a:tc>
                  <a:txBody>
                    <a:bodyPr wrap="square"/>
                    <a:lstStyle/>
                    <a:p>
                      <a:r>
                        <a:rPr sz="1150" b="1">
                          <a:solidFill>
                            <a:srgbClr val="E7ECF3"/>
                          </a:solidFill>
                          <a:latin typeface="Calibri"/>
                        </a:rPr>
                        <a:t>Duration</a:t>
                      </a:r>
                    </a:p>
                  </a:txBody>
                  <a:tcPr marL="109728" marT="27432" marB="27432" anchor="ctr">
                    <a:solidFill>
                      <a:srgbClr val="161B26"/>
                    </a:solidFill>
                  </a:tcPr>
                </a:tc>
                <a:tc>
                  <a:txBody>
                    <a:bodyPr wrap="square"/>
                    <a:lstStyle/>
                    <a:p>
                      <a:r>
                        <a:rPr sz="1150" b="0">
                          <a:solidFill>
                            <a:srgbClr val="B6BFCF"/>
                          </a:solidFill>
                          <a:latin typeface="Calibri"/>
                        </a:rPr>
                        <a:t>One-off, single session, 1.5–3h (avg 2h)</a:t>
                      </a:r>
                    </a:p>
                  </a:txBody>
                  <a:tcPr marL="109728" marT="27432" marB="27432" anchor="ctr">
                    <a:solidFill>
                      <a:srgbClr val="161B26"/>
                    </a:solidFill>
                  </a:tcPr>
                </a:tc>
              </a:tr>
              <a:tr h="381000">
                <a:tc>
                  <a:txBody>
                    <a:bodyPr wrap="square"/>
                    <a:lstStyle/>
                    <a:p>
                      <a:r>
                        <a:rPr sz="1150" b="1">
                          <a:solidFill>
                            <a:srgbClr val="E7ECF3"/>
                          </a:solidFill>
                          <a:latin typeface="Calibri"/>
                        </a:rPr>
                        <a:t>Data types</a:t>
                      </a:r>
                    </a:p>
                  </a:txBody>
                  <a:tcPr marL="109728" marT="27432" marB="27432" anchor="ctr">
                    <a:solidFill>
                      <a:srgbClr val="1E2533"/>
                    </a:solidFill>
                  </a:tcPr>
                </a:tc>
                <a:tc>
                  <a:txBody>
                    <a:bodyPr wrap="square"/>
                    <a:lstStyle/>
                    <a:p>
                      <a:r>
                        <a:rPr sz="1150" b="0">
                          <a:solidFill>
                            <a:srgbClr val="B6BFCF"/>
                          </a:solidFill>
                          <a:latin typeface="Calibri"/>
                        </a:rPr>
                        <a:t>Qualitative think-aloud + interviews; self-reported attitudinal Likert + rankings</a:t>
                      </a:r>
                    </a:p>
                  </a:txBody>
                  <a:tcPr marL="109728" marT="27432" marB="27432" anchor="ctr">
                    <a:solidFill>
                      <a:srgbClr val="1E2533"/>
                    </a:solidFill>
                  </a:tcPr>
                </a:tc>
              </a:tr>
              <a:tr h="381000">
                <a:tc>
                  <a:txBody>
                    <a:bodyPr wrap="square"/>
                    <a:lstStyle/>
                    <a:p>
                      <a:r>
                        <a:rPr sz="1150" b="1">
                          <a:solidFill>
                            <a:srgbClr val="E7ECF3"/>
                          </a:solidFill>
                          <a:latin typeface="Calibri"/>
                        </a:rPr>
                        <a:t>Validity</a:t>
                      </a:r>
                    </a:p>
                  </a:txBody>
                  <a:tcPr marL="109728" marT="27432" marB="27432" anchor="ctr">
                    <a:solidFill>
                      <a:srgbClr val="161B26"/>
                    </a:solidFill>
                  </a:tcPr>
                </a:tc>
                <a:tc>
                  <a:txBody>
                    <a:bodyPr wrap="square"/>
                    <a:lstStyle/>
                    <a:p>
                      <a:r>
                        <a:rPr sz="1150" b="0">
                          <a:solidFill>
                            <a:srgbClr val="B6BFCF"/>
                          </a:solidFill>
                          <a:latin typeface="Calibri"/>
                        </a:rPr>
                        <a:t>Trustworthiness: credibility, transferability, reflexivity (NOT internal/external)</a:t>
                      </a:r>
                    </a:p>
                  </a:txBody>
                  <a:tcPr marL="109728" marT="27432" marB="27432" anchor="ctr">
                    <a:solidFill>
                      <a:srgbClr val="161B26"/>
                    </a:solidFill>
                  </a:tcPr>
                </a:tc>
              </a:tr>
              <a:tr h="381000">
                <a:tc>
                  <a:txBody>
                    <a:bodyPr wrap="square"/>
                    <a:lstStyle/>
                    <a:p>
                      <a:r>
                        <a:rPr sz="1150" b="1">
                          <a:solidFill>
                            <a:srgbClr val="E7ECF3"/>
                          </a:solidFill>
                          <a:latin typeface="Calibri"/>
                        </a:rPr>
                        <a:t>Modalities</a:t>
                      </a:r>
                    </a:p>
                  </a:txBody>
                  <a:tcPr marL="109728" marT="27432" marB="27432" anchor="ctr">
                    <a:solidFill>
                      <a:srgbClr val="1E2533"/>
                    </a:solidFill>
                  </a:tcPr>
                </a:tc>
                <a:tc>
                  <a:txBody>
                    <a:bodyPr wrap="square"/>
                    <a:lstStyle/>
                    <a:p>
                      <a:r>
                        <a:rPr sz="1150" b="0">
                          <a:solidFill>
                            <a:srgbClr val="B6BFCF"/>
                          </a:solidFill>
                          <a:latin typeface="Calibri"/>
                        </a:rPr>
                        <a:t>Input: touch/block, speech-text/NL, camera/by-example; Output: audio (VoiceOver) + Braille + visual context</a:t>
                      </a:r>
                    </a:p>
                  </a:txBody>
                  <a:tcPr marL="109728" marT="27432" marB="27432" anchor="ctr">
                    <a:solidFill>
                      <a:srgbClr val="1E2533"/>
                    </a:solidFill>
                  </a:tcPr>
                </a:tc>
              </a:tr>
              <a:tr h="381000">
                <a:tc>
                  <a:txBody>
                    <a:bodyPr wrap="square"/>
                    <a:lstStyle/>
                    <a:p>
                      <a:r>
                        <a:rPr sz="1150" b="1">
                          <a:solidFill>
                            <a:srgbClr val="E7ECF3"/>
                          </a:solidFill>
                          <a:latin typeface="Calibri"/>
                        </a:rPr>
                        <a:t>Interaction quality improved</a:t>
                      </a:r>
                    </a:p>
                  </a:txBody>
                  <a:tcPr marL="109728" marT="27432" marB="27432" anchor="ctr">
                    <a:solidFill>
                      <a:srgbClr val="161B26"/>
                    </a:solidFill>
                  </a:tcPr>
                </a:tc>
                <a:tc>
                  <a:txBody>
                    <a:bodyPr wrap="square"/>
                    <a:lstStyle/>
                    <a:p>
                      <a:r>
                        <a:rPr sz="1150" b="0">
                          <a:solidFill>
                            <a:srgbClr val="B6BFCF"/>
                          </a:solidFill>
                          <a:latin typeface="Calibri"/>
                        </a:rPr>
                        <a:t>Expressiveness (custom filters); also discoverability + efficiency</a:t>
                      </a:r>
                    </a:p>
                  </a:txBody>
                  <a:tcPr marL="109728" marT="27432" marB="27432" anchor="ctr">
                    <a:solidFill>
                      <a:srgbClr val="161B26"/>
                    </a:solidFill>
                  </a:tcPr>
                </a:tc>
              </a:tr>
              <a:tr h="381000">
                <a:tc>
                  <a:txBody>
                    <a:bodyPr wrap="square"/>
                    <a:lstStyle/>
                    <a:p>
                      <a:r>
                        <a:rPr sz="1150" b="1">
                          <a:solidFill>
                            <a:srgbClr val="E7ECF3"/>
                          </a:solidFill>
                          <a:latin typeface="Calibri"/>
                        </a:rPr>
                        <a:t>Accessibility/impairment</a:t>
                      </a:r>
                    </a:p>
                  </a:txBody>
                  <a:tcPr marL="109728" marT="27432" marB="27432" anchor="ctr">
                    <a:solidFill>
                      <a:srgbClr val="1E2533"/>
                    </a:solidFill>
                  </a:tcPr>
                </a:tc>
                <a:tc>
                  <a:txBody>
                    <a:bodyPr wrap="square"/>
                    <a:lstStyle/>
                    <a:p>
                      <a:r>
                        <a:rPr sz="1150" b="0">
                          <a:solidFill>
                            <a:srgbClr val="B6BFCF"/>
                          </a:solidFill>
                          <a:latin typeface="Calibri"/>
                        </a:rPr>
                        <a:t>Permanent — blind/low-vision screen-reader users</a:t>
                      </a:r>
                    </a:p>
                  </a:txBody>
                  <a:tcPr marL="109728" marT="27432" marB="27432" anchor="ctr">
                    <a:solidFill>
                      <a:srgbClr val="1E2533"/>
                    </a:solidFill>
                  </a:tcPr>
                </a:tc>
              </a:tr>
              <a:tr h="381000">
                <a:tc>
                  <a:txBody>
                    <a:bodyPr wrap="square"/>
                    <a:lstStyle/>
                    <a:p>
                      <a:r>
                        <a:rPr sz="1150" b="1">
                          <a:solidFill>
                            <a:srgbClr val="E7ECF3"/>
                          </a:solidFill>
                          <a:latin typeface="Calibri"/>
                        </a:rPr>
                        <a:t>Wave</a:t>
                      </a:r>
                    </a:p>
                  </a:txBody>
                  <a:tcPr marL="109728" marT="27432" marB="27432" anchor="ctr">
                    <a:solidFill>
                      <a:srgbClr val="161B26"/>
                    </a:solidFill>
                  </a:tcPr>
                </a:tc>
                <a:tc>
                  <a:txBody>
                    <a:bodyPr wrap="square"/>
                    <a:lstStyle/>
                    <a:p>
                      <a:r>
                        <a:rPr sz="1150" b="0">
                          <a:solidFill>
                            <a:srgbClr val="B6BFCF"/>
                          </a:solidFill>
                          <a:latin typeface="Calibri"/>
                        </a:rPr>
                        <a:t>Third wave (empowerment, DIY, lived experience) on first-wave AI engineering</a:t>
                      </a:r>
                    </a:p>
                  </a:txBody>
                  <a:tcPr marL="109728" marT="27432" marB="27432" anchor="ctr">
                    <a:solidFill>
                      <a:srgbClr val="161B26"/>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12</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Weaknesses: limitations &amp; validity</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800"/>
              </a:spcAft>
            </a:pPr>
            <a:r>
              <a:rPr sz="1500">
                <a:solidFill>
                  <a:srgbClr val="7C6CFF"/>
                </a:solidFill>
                <a:latin typeface="Calibri"/>
              </a:rPr>
              <a:t>▸  </a:t>
            </a:r>
            <a:r>
              <a:rPr sz="1500" b="1">
                <a:solidFill>
                  <a:srgbClr val="22D3EE"/>
                </a:solidFill>
                <a:latin typeface="Calibri"/>
              </a:rPr>
              <a:t>Small, self-selected sample</a:t>
            </a:r>
            <a:r>
              <a:rPr sz="1500" b="0">
                <a:solidFill>
                  <a:srgbClr val="E7ECF3"/>
                </a:solidFill>
                <a:latin typeface="Calibri"/>
              </a:rPr>
              <a:t> (n=12, snowball) — motivated, tech-comfortable; limits </a:t>
            </a:r>
            <a:r>
              <a:rPr sz="1500" b="1">
                <a:solidFill>
                  <a:srgbClr val="22D3EE"/>
                </a:solidFill>
                <a:latin typeface="Calibri"/>
              </a:rPr>
              <a:t>transferability</a:t>
            </a:r>
          </a:p>
          <a:p>
            <a:pPr>
              <a:spcAft>
                <a:spcPts val="800"/>
              </a:spcAft>
            </a:pPr>
            <a:r>
              <a:rPr sz="1500">
                <a:solidFill>
                  <a:srgbClr val="7C6CFF"/>
                </a:solidFill>
                <a:latin typeface="Calibri"/>
              </a:rPr>
              <a:t>▸  </a:t>
            </a:r>
            <a:r>
              <a:rPr sz="1500" b="1">
                <a:solidFill>
                  <a:srgbClr val="22D3EE"/>
                </a:solidFill>
                <a:latin typeface="Calibri"/>
              </a:rPr>
              <a:t>No quantitative performance metrics</a:t>
            </a:r>
            <a:r>
              <a:rPr sz="1500" b="0">
                <a:solidFill>
                  <a:srgbClr val="E7ECF3"/>
                </a:solidFill>
                <a:latin typeface="Calibri"/>
              </a:rPr>
              <a:t> — task time deliberately not measured; accuracy is </a:t>
            </a:r>
            <a:r>
              <a:rPr sz="1500" b="1">
                <a:solidFill>
                  <a:srgbClr val="22D3EE"/>
                </a:solidFill>
                <a:latin typeface="Calibri"/>
              </a:rPr>
              <a:t>perceived</a:t>
            </a:r>
            <a:r>
              <a:rPr sz="1500" b="0">
                <a:solidFill>
                  <a:srgbClr val="E7ECF3"/>
                </a:solidFill>
                <a:latin typeface="Calibri"/>
              </a:rPr>
              <a:t>, not ground-truthed</a:t>
            </a:r>
          </a:p>
          <a:p>
            <a:pPr>
              <a:spcAft>
                <a:spcPts val="800"/>
              </a:spcAft>
            </a:pPr>
            <a:r>
              <a:rPr sz="1500">
                <a:solidFill>
                  <a:srgbClr val="7C6CFF"/>
                </a:solidFill>
                <a:latin typeface="Calibri"/>
              </a:rPr>
              <a:t>▸  </a:t>
            </a:r>
            <a:r>
              <a:rPr sz="1500" b="1">
                <a:solidFill>
                  <a:srgbClr val="22D3EE"/>
                </a:solidFill>
                <a:latin typeface="Calibri"/>
              </a:rPr>
              <a:t>Pilot participants merged</a:t>
            </a:r>
            <a:r>
              <a:rPr sz="1500" b="0">
                <a:solidFill>
                  <a:srgbClr val="E7ECF3"/>
                </a:solidFill>
                <a:latin typeface="Calibri"/>
              </a:rPr>
              <a:t> into results despite protocol asymmetry (P1–P2 used </a:t>
            </a:r>
            <a:r>
              <a:rPr sz="1500" b="1">
                <a:solidFill>
                  <a:srgbClr val="22D3EE"/>
                </a:solidFill>
                <a:latin typeface="Calibri"/>
              </a:rPr>
              <a:t>block mode only</a:t>
            </a:r>
            <a:r>
              <a:rPr sz="1500" b="0">
                <a:solidFill>
                  <a:srgbClr val="E7ECF3"/>
                </a:solidFill>
                <a:latin typeface="Calibri"/>
              </a:rPr>
              <a:t>)</a:t>
            </a:r>
          </a:p>
          <a:p>
            <a:pPr>
              <a:spcAft>
                <a:spcPts val="800"/>
              </a:spcAft>
            </a:pPr>
            <a:r>
              <a:rPr sz="1500">
                <a:solidFill>
                  <a:srgbClr val="7C6CFF"/>
                </a:solidFill>
                <a:latin typeface="Calibri"/>
              </a:rPr>
              <a:t>▸  </a:t>
            </a:r>
            <a:r>
              <a:rPr sz="1500" b="1">
                <a:solidFill>
                  <a:srgbClr val="22D3EE"/>
                </a:solidFill>
                <a:latin typeface="Calibri"/>
              </a:rPr>
              <a:t>Single-session, lab/remote</a:t>
            </a:r>
            <a:r>
              <a:rPr sz="1500" b="0">
                <a:solidFill>
                  <a:srgbClr val="E7ECF3"/>
                </a:solidFill>
                <a:latin typeface="Calibri"/>
              </a:rPr>
              <a:t> with props &amp; images — limited </a:t>
            </a:r>
            <a:r>
              <a:rPr sz="1500" b="1">
                <a:solidFill>
                  <a:srgbClr val="22D3EE"/>
                </a:solidFill>
                <a:latin typeface="Calibri"/>
              </a:rPr>
              <a:t>ecological validity</a:t>
            </a:r>
            <a:r>
              <a:rPr sz="1500" b="0">
                <a:solidFill>
                  <a:srgbClr val="E7ECF3"/>
                </a:solidFill>
                <a:latin typeface="Calibri"/>
              </a:rPr>
              <a:t> vs messy real-world camera use</a:t>
            </a:r>
          </a:p>
          <a:p>
            <a:pPr>
              <a:spcAft>
                <a:spcPts val="800"/>
              </a:spcAft>
            </a:pPr>
            <a:r>
              <a:rPr sz="1500">
                <a:solidFill>
                  <a:srgbClr val="7C6CFF"/>
                </a:solidFill>
                <a:latin typeface="Calibri"/>
              </a:rPr>
              <a:t>▸  </a:t>
            </a:r>
            <a:r>
              <a:rPr sz="1500" b="1">
                <a:solidFill>
                  <a:srgbClr val="22D3EE"/>
                </a:solidFill>
                <a:latin typeface="Calibri"/>
              </a:rPr>
              <a:t>Naive adjective implementations</a:t>
            </a:r>
            <a:r>
              <a:rPr sz="1500" b="0">
                <a:solidFill>
                  <a:srgbClr val="E7ECF3"/>
                </a:solidFill>
                <a:latin typeface="Calibri"/>
              </a:rPr>
              <a:t> (color/size/location) and a strict tree limiting Explore to find/on only</a:t>
            </a:r>
          </a:p>
          <a:p>
            <a:pPr>
              <a:spcAft>
                <a:spcPts val="800"/>
              </a:spcAft>
            </a:pPr>
            <a:r>
              <a:rPr sz="1500">
                <a:solidFill>
                  <a:srgbClr val="7C6CFF"/>
                </a:solidFill>
                <a:latin typeface="Calibri"/>
              </a:rPr>
              <a:t>▸  </a:t>
            </a:r>
            <a:r>
              <a:rPr sz="1500" b="0">
                <a:solidFill>
                  <a:srgbClr val="E7ECF3"/>
                </a:solidFill>
                <a:latin typeface="Calibri"/>
              </a:rPr>
              <a:t>Large </a:t>
            </a:r>
            <a:r>
              <a:rPr sz="1500" b="1">
                <a:solidFill>
                  <a:srgbClr val="22D3EE"/>
                </a:solidFill>
                <a:latin typeface="Calibri"/>
              </a:rPr>
              <a:t>expertise variance</a:t>
            </a:r>
            <a:r>
              <a:rPr sz="1500" b="0">
                <a:solidFill>
                  <a:srgbClr val="E7ECF3"/>
                </a:solidFill>
                <a:latin typeface="Calibri"/>
              </a:rPr>
              <a:t> on a small n (2 AT pros vs 1 VoiceOver novice)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13</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ISO contexts of use + accessibility framing</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800"/>
              </a:spcAft>
            </a:pPr>
            <a:r>
              <a:rPr sz="1500">
                <a:solidFill>
                  <a:srgbClr val="7C6CFF"/>
                </a:solidFill>
                <a:latin typeface="Calibri"/>
              </a:rPr>
              <a:t>▸  </a:t>
            </a:r>
            <a:r>
              <a:rPr sz="1500" b="1">
                <a:solidFill>
                  <a:srgbClr val="22D3EE"/>
                </a:solidFill>
                <a:latin typeface="Calibri"/>
              </a:rPr>
              <a:t>Physical</a:t>
            </a:r>
            <a:r>
              <a:rPr sz="1500" b="0">
                <a:solidFill>
                  <a:srgbClr val="E7ECF3"/>
                </a:solidFill>
                <a:latin typeface="Calibri"/>
              </a:rPr>
              <a:t>: the user's body &amp; abilities — </a:t>
            </a:r>
            <a:r>
              <a:rPr sz="1500" b="1">
                <a:solidFill>
                  <a:srgbClr val="22D3EE"/>
                </a:solidFill>
                <a:latin typeface="Calibri"/>
              </a:rPr>
              <a:t>blind/low-vision</a:t>
            </a:r>
            <a:r>
              <a:rPr sz="1500" b="0">
                <a:solidFill>
                  <a:srgbClr val="E7ECF3"/>
                </a:solidFill>
                <a:latin typeface="Calibri"/>
              </a:rPr>
              <a:t> vision; lighting, camera-aiming, object framing all matter</a:t>
            </a:r>
          </a:p>
          <a:p>
            <a:pPr>
              <a:spcAft>
                <a:spcPts val="800"/>
              </a:spcAft>
            </a:pPr>
            <a:r>
              <a:rPr sz="1500">
                <a:solidFill>
                  <a:srgbClr val="7C6CFF"/>
                </a:solidFill>
                <a:latin typeface="Calibri"/>
              </a:rPr>
              <a:t>▸  </a:t>
            </a:r>
            <a:r>
              <a:rPr sz="1500" b="1">
                <a:solidFill>
                  <a:srgbClr val="22D3EE"/>
                </a:solidFill>
                <a:latin typeface="Calibri"/>
              </a:rPr>
              <a:t>Temporal</a:t>
            </a:r>
            <a:r>
              <a:rPr sz="1500" b="0">
                <a:solidFill>
                  <a:srgbClr val="E7ECF3"/>
                </a:solidFill>
                <a:latin typeface="Calibri"/>
              </a:rPr>
              <a:t>: </a:t>
            </a:r>
            <a:r>
              <a:rPr sz="1500" b="1">
                <a:solidFill>
                  <a:srgbClr val="22D3EE"/>
                </a:solidFill>
                <a:latin typeface="Calibri"/>
              </a:rPr>
              <a:t>time-sensitive</a:t>
            </a:r>
            <a:r>
              <a:rPr sz="1500" b="0">
                <a:solidFill>
                  <a:srgbClr val="E7ECF3"/>
                </a:solidFill>
                <a:latin typeface="Calibri"/>
              </a:rPr>
              <a:t> tasks (catching a bus) favour fast Question mode or pre-saved filters</a:t>
            </a:r>
          </a:p>
          <a:p>
            <a:pPr>
              <a:spcAft>
                <a:spcPts val="800"/>
              </a:spcAft>
            </a:pPr>
            <a:r>
              <a:rPr sz="1500">
                <a:solidFill>
                  <a:srgbClr val="7C6CFF"/>
                </a:solidFill>
                <a:latin typeface="Calibri"/>
              </a:rPr>
              <a:t>▸  </a:t>
            </a:r>
            <a:r>
              <a:rPr sz="1500" b="1">
                <a:solidFill>
                  <a:srgbClr val="22D3EE"/>
                </a:solidFill>
                <a:latin typeface="Calibri"/>
              </a:rPr>
              <a:t>Task</a:t>
            </a:r>
            <a:r>
              <a:rPr sz="1500" b="0">
                <a:solidFill>
                  <a:srgbClr val="E7ECF3"/>
                </a:solidFill>
                <a:latin typeface="Calibri"/>
              </a:rPr>
              <a:t>: often a </a:t>
            </a:r>
            <a:r>
              <a:rPr sz="1500" b="1">
                <a:solidFill>
                  <a:srgbClr val="22D3EE"/>
                </a:solidFill>
                <a:latin typeface="Calibri"/>
              </a:rPr>
              <a:t>secondary/background</a:t>
            </a:r>
            <a:r>
              <a:rPr sz="1500" b="0">
                <a:solidFill>
                  <a:srgbClr val="E7ECF3"/>
                </a:solidFill>
                <a:latin typeface="Calibri"/>
              </a:rPr>
              <a:t> task done while moving — repetitive (sorting mail), whole-scene scanning</a:t>
            </a:r>
          </a:p>
          <a:p>
            <a:pPr>
              <a:spcAft>
                <a:spcPts val="800"/>
              </a:spcAft>
            </a:pPr>
            <a:r>
              <a:rPr sz="1500">
                <a:solidFill>
                  <a:srgbClr val="7C6CFF"/>
                </a:solidFill>
                <a:latin typeface="Calibri"/>
              </a:rPr>
              <a:t>▸  </a:t>
            </a:r>
            <a:r>
              <a:rPr sz="1500" b="1">
                <a:solidFill>
                  <a:srgbClr val="22D3EE"/>
                </a:solidFill>
                <a:latin typeface="Calibri"/>
              </a:rPr>
              <a:t>Social</a:t>
            </a:r>
            <a:r>
              <a:rPr sz="1500" b="0">
                <a:solidFill>
                  <a:srgbClr val="E7ECF3"/>
                </a:solidFill>
                <a:latin typeface="Calibri"/>
              </a:rPr>
              <a:t>: spoken VoiceOver output can </a:t>
            </a:r>
            <a:r>
              <a:rPr sz="1500" b="1">
                <a:solidFill>
                  <a:srgbClr val="22D3EE"/>
                </a:solidFill>
                <a:latin typeface="Calibri"/>
              </a:rPr>
              <a:t>leak</a:t>
            </a:r>
            <a:r>
              <a:rPr sz="1500" b="0">
                <a:solidFill>
                  <a:srgbClr val="E7ECF3"/>
                </a:solidFill>
                <a:latin typeface="Calibri"/>
              </a:rPr>
              <a:t> in quiet/social settings — Braille output is a private alternative</a:t>
            </a:r>
          </a:p>
          <a:p>
            <a:pPr>
              <a:spcAft>
                <a:spcPts val="800"/>
              </a:spcAft>
            </a:pPr>
            <a:r>
              <a:rPr sz="1500">
                <a:solidFill>
                  <a:srgbClr val="7C6CFF"/>
                </a:solidFill>
                <a:latin typeface="Calibri"/>
              </a:rPr>
              <a:t>▸  </a:t>
            </a:r>
            <a:r>
              <a:rPr sz="1500" b="1">
                <a:solidFill>
                  <a:srgbClr val="22D3EE"/>
                </a:solidFill>
                <a:latin typeface="Calibri"/>
              </a:rPr>
              <a:t>Technical</a:t>
            </a:r>
            <a:r>
              <a:rPr sz="1500" b="0">
                <a:solidFill>
                  <a:srgbClr val="E7ECF3"/>
                </a:solidFill>
                <a:latin typeface="Calibri"/>
              </a:rPr>
              <a:t>: iPhone + TestFlight, on-device YOLO models + cloud (GPT-4, Cloud Vision) — network dependence in Explore mode</a:t>
            </a:r>
          </a:p>
          <a:p>
            <a:pPr>
              <a:spcAft>
                <a:spcPts val="800"/>
              </a:spcAft>
            </a:pPr>
            <a:r>
              <a:rPr sz="1500">
                <a:solidFill>
                  <a:srgbClr val="7C6CFF"/>
                </a:solidFill>
                <a:latin typeface="Calibri"/>
              </a:rPr>
              <a:t>▸  </a:t>
            </a:r>
            <a:r>
              <a:rPr sz="1500" b="0">
                <a:solidFill>
                  <a:srgbClr val="E7ECF3"/>
                </a:solidFill>
                <a:latin typeface="Calibri"/>
              </a:rPr>
              <a:t>Impairment is </a:t>
            </a:r>
            <a:r>
              <a:rPr sz="1500" b="1">
                <a:solidFill>
                  <a:srgbClr val="22D3EE"/>
                </a:solidFill>
                <a:latin typeface="Calibri"/>
              </a:rPr>
              <a:t>permanent</a:t>
            </a:r>
            <a:r>
              <a:rPr sz="1500" b="0">
                <a:solidFill>
                  <a:srgbClr val="E7ECF3"/>
                </a:solidFill>
                <a:latin typeface="Calibri"/>
              </a:rPr>
              <a:t> (Inclusive Design spectrum); the filtering idea extends to </a:t>
            </a:r>
            <a:r>
              <a:rPr sz="1500" b="1">
                <a:solidFill>
                  <a:srgbClr val="22D3EE"/>
                </a:solidFill>
                <a:latin typeface="Calibri"/>
              </a:rPr>
              <a:t>situational</a:t>
            </a:r>
            <a:r>
              <a:rPr sz="1500" b="0">
                <a:solidFill>
                  <a:srgbClr val="E7ECF3"/>
                </a:solidFill>
                <a:latin typeface="Calibri"/>
              </a:rPr>
              <a:t> impairment — anyone wanting one datum from clutter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14</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Key terms I must know</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800"/>
              </a:spcAft>
            </a:pPr>
            <a:r>
              <a:rPr sz="1500">
                <a:solidFill>
                  <a:srgbClr val="7C6CFF"/>
                </a:solidFill>
                <a:latin typeface="Calibri"/>
              </a:rPr>
              <a:t>▸  </a:t>
            </a:r>
            <a:r>
              <a:rPr sz="1500" b="1">
                <a:solidFill>
                  <a:srgbClr val="22D3EE"/>
                </a:solidFill>
                <a:latin typeface="Calibri"/>
              </a:rPr>
              <a:t>End-user programming (EUP)</a:t>
            </a:r>
            <a:r>
              <a:rPr sz="1500" b="0">
                <a:solidFill>
                  <a:srgbClr val="E7ECF3"/>
                </a:solidFill>
                <a:latin typeface="Calibri"/>
              </a:rPr>
              <a:t>: non-programmers build tools for their own domain — here, blind users as </a:t>
            </a:r>
            <a:r>
              <a:rPr sz="1500" b="1">
                <a:solidFill>
                  <a:srgbClr val="22D3EE"/>
                </a:solidFill>
                <a:latin typeface="Calibri"/>
              </a:rPr>
              <a:t>domain experts</a:t>
            </a:r>
          </a:p>
          <a:p>
            <a:pPr>
              <a:spcAft>
                <a:spcPts val="800"/>
              </a:spcAft>
            </a:pPr>
            <a:r>
              <a:rPr sz="1500">
                <a:solidFill>
                  <a:srgbClr val="7C6CFF"/>
                </a:solidFill>
                <a:latin typeface="Calibri"/>
              </a:rPr>
              <a:t>▸  </a:t>
            </a:r>
            <a:r>
              <a:rPr sz="1500" b="1">
                <a:solidFill>
                  <a:srgbClr val="22D3EE"/>
                </a:solidFill>
                <a:latin typeface="Calibri"/>
              </a:rPr>
              <a:t>Visual information filtering</a:t>
            </a:r>
            <a:r>
              <a:rPr sz="1500" b="0">
                <a:solidFill>
                  <a:srgbClr val="E7ECF3"/>
                </a:solidFill>
                <a:latin typeface="Calibri"/>
              </a:rPr>
              <a:t>: crop the camera to hear only the wanted datum, not a full scene description</a:t>
            </a:r>
          </a:p>
          <a:p>
            <a:pPr>
              <a:spcAft>
                <a:spcPts val="800"/>
              </a:spcAft>
            </a:pPr>
            <a:r>
              <a:rPr sz="1500">
                <a:solidFill>
                  <a:srgbClr val="7C6CFF"/>
                </a:solidFill>
                <a:latin typeface="Calibri"/>
              </a:rPr>
              <a:t>▸  </a:t>
            </a:r>
            <a:r>
              <a:rPr sz="1500" b="1">
                <a:solidFill>
                  <a:srgbClr val="22D3EE"/>
                </a:solidFill>
                <a:latin typeface="Calibri"/>
              </a:rPr>
              <a:t>Multi-modal creation</a:t>
            </a:r>
            <a:r>
              <a:rPr sz="1500" b="0">
                <a:solidFill>
                  <a:srgbClr val="E7ECF3"/>
                </a:solidFill>
                <a:latin typeface="Calibri"/>
              </a:rPr>
              <a:t>: same program built three ways — </a:t>
            </a:r>
            <a:r>
              <a:rPr sz="1500" b="1">
                <a:solidFill>
                  <a:srgbClr val="22D3EE"/>
                </a:solidFill>
                <a:latin typeface="Calibri"/>
              </a:rPr>
              <a:t>block</a:t>
            </a:r>
            <a:r>
              <a:rPr sz="1500" b="0">
                <a:solidFill>
                  <a:srgbClr val="E7ECF3"/>
                </a:solidFill>
                <a:latin typeface="Calibri"/>
              </a:rPr>
              <a:t> (touch), </a:t>
            </a:r>
            <a:r>
              <a:rPr sz="1500" b="1">
                <a:solidFill>
                  <a:srgbClr val="22D3EE"/>
                </a:solidFill>
                <a:latin typeface="Calibri"/>
              </a:rPr>
              <a:t>NL/Question</a:t>
            </a:r>
            <a:r>
              <a:rPr sz="1500" b="0">
                <a:solidFill>
                  <a:srgbClr val="E7ECF3"/>
                </a:solidFill>
                <a:latin typeface="Calibri"/>
              </a:rPr>
              <a:t> (speech), </a:t>
            </a:r>
            <a:r>
              <a:rPr sz="1500" b="1">
                <a:solidFill>
                  <a:srgbClr val="22D3EE"/>
                </a:solidFill>
                <a:latin typeface="Calibri"/>
              </a:rPr>
              <a:t>PBE/Explore</a:t>
            </a:r>
            <a:r>
              <a:rPr sz="1500" b="0">
                <a:solidFill>
                  <a:srgbClr val="E7ECF3"/>
                </a:solidFill>
                <a:latin typeface="Calibri"/>
              </a:rPr>
              <a:t> (camera)</a:t>
            </a:r>
          </a:p>
          <a:p>
            <a:pPr>
              <a:spcAft>
                <a:spcPts val="800"/>
              </a:spcAft>
            </a:pPr>
            <a:r>
              <a:rPr sz="1500">
                <a:solidFill>
                  <a:srgbClr val="7C6CFF"/>
                </a:solidFill>
                <a:latin typeface="Calibri"/>
              </a:rPr>
              <a:t>▸  </a:t>
            </a:r>
            <a:r>
              <a:rPr sz="1500" b="1">
                <a:solidFill>
                  <a:srgbClr val="22D3EE"/>
                </a:solidFill>
                <a:latin typeface="Calibri"/>
              </a:rPr>
              <a:t>Unknown-unknowns</a:t>
            </a:r>
            <a:r>
              <a:rPr sz="1500" b="0">
                <a:solidFill>
                  <a:srgbClr val="E7ECF3"/>
                </a:solidFill>
                <a:latin typeface="Calibri"/>
              </a:rPr>
              <a:t>: you cannot ask for what you do not know is there — Explore mode targets this</a:t>
            </a:r>
          </a:p>
          <a:p>
            <a:pPr>
              <a:spcAft>
                <a:spcPts val="800"/>
              </a:spcAft>
            </a:pPr>
            <a:r>
              <a:rPr sz="1500">
                <a:solidFill>
                  <a:srgbClr val="7C6CFF"/>
                </a:solidFill>
                <a:latin typeface="Calibri"/>
              </a:rPr>
              <a:t>▸  </a:t>
            </a:r>
            <a:r>
              <a:rPr sz="1500" b="1">
                <a:solidFill>
                  <a:srgbClr val="22D3EE"/>
                </a:solidFill>
                <a:latin typeface="Calibri"/>
              </a:rPr>
              <a:t>Artifact vs empirical contribution</a:t>
            </a:r>
            <a:r>
              <a:rPr sz="1500" b="0">
                <a:solidFill>
                  <a:srgbClr val="E7ECF3"/>
                </a:solidFill>
                <a:latin typeface="Calibri"/>
              </a:rPr>
              <a:t> (Wobbrock &amp; Kientz): system + representation is primary; the 12-user study is secondary</a:t>
            </a:r>
          </a:p>
          <a:p>
            <a:pPr>
              <a:spcAft>
                <a:spcPts val="800"/>
              </a:spcAft>
            </a:pPr>
            <a:r>
              <a:rPr sz="1500">
                <a:solidFill>
                  <a:srgbClr val="7C6CFF"/>
                </a:solidFill>
                <a:latin typeface="Calibri"/>
              </a:rPr>
              <a:t>▸  </a:t>
            </a:r>
            <a:r>
              <a:rPr sz="1500" b="1">
                <a:solidFill>
                  <a:srgbClr val="22D3EE"/>
                </a:solidFill>
                <a:latin typeface="Calibri"/>
              </a:rPr>
              <a:t>Trustworthiness</a:t>
            </a:r>
            <a:r>
              <a:rPr sz="1500" b="0">
                <a:solidFill>
                  <a:srgbClr val="E7ECF3"/>
                </a:solidFill>
                <a:latin typeface="Calibri"/>
              </a:rPr>
              <a:t> (Lincoln &amp; Guba): credibility, transferability, reflexivity — not internal/external validity</a:t>
            </a:r>
          </a:p>
          <a:p>
            <a:pPr>
              <a:spcAft>
                <a:spcPts val="800"/>
              </a:spcAft>
            </a:pPr>
            <a:r>
              <a:rPr sz="1500">
                <a:solidFill>
                  <a:srgbClr val="7C6CFF"/>
                </a:solidFill>
                <a:latin typeface="Calibri"/>
              </a:rPr>
              <a:t>▸  </a:t>
            </a:r>
            <a:r>
              <a:rPr sz="1500" b="1">
                <a:solidFill>
                  <a:srgbClr val="22D3EE"/>
                </a:solidFill>
                <a:latin typeface="Calibri"/>
              </a:rPr>
              <a:t>Inclusive Design spectrum</a:t>
            </a:r>
            <a:r>
              <a:rPr sz="1500" b="0">
                <a:solidFill>
                  <a:srgbClr val="E7ECF3"/>
                </a:solidFill>
                <a:latin typeface="Calibri"/>
              </a:rPr>
              <a:t>: permanent (blind) vs temporary vs situational impairment — filtering generalises to all three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19088"/>
            <a:ext cx="9144000" cy="365760"/>
          </a:xfrm>
          <a:prstGeom prst="rect">
            <a:avLst/>
          </a:prstGeom>
          <a:noFill/>
        </p:spPr>
        <p:txBody>
          <a:bodyPr wrap="none">
            <a:spAutoFit/>
          </a:bodyPr>
          <a:lstStyle/>
          <a:p>
            <a:r>
              <a:rPr sz="900">
                <a:solidFill>
                  <a:srgbClr val="778295"/>
                </a:solidFill>
                <a:latin typeface="Calibri"/>
              </a:rPr>
              <a:t>Jaylin Herskovitz — UIST '24 (37th ACM Symposium on User Interface Software and Technology), Pittsburgh, Oct 2024</a:t>
            </a:r>
          </a:p>
        </p:txBody>
      </p:sp>
      <p:sp>
        <p:nvSpPr>
          <p:cNvPr id="4" name="TextBox 3"/>
          <p:cNvSpPr txBox="1"/>
          <p:nvPr/>
        </p:nvSpPr>
        <p:spPr>
          <a:xfrm>
            <a:off x="11338560" y="6419088"/>
            <a:ext cx="640080" cy="365760"/>
          </a:xfrm>
          <a:prstGeom prst="rect">
            <a:avLst/>
          </a:prstGeom>
          <a:noFill/>
        </p:spPr>
        <p:txBody>
          <a:bodyPr wrap="none">
            <a:spAutoFit/>
          </a:bodyPr>
          <a:lstStyle/>
          <a:p>
            <a:pPr algn="r"/>
            <a:r>
              <a:rPr sz="900">
                <a:solidFill>
                  <a:srgbClr val="778295"/>
                </a:solidFill>
                <a:latin typeface="Calibri"/>
              </a:rPr>
              <a:t>15</a:t>
            </a:r>
          </a:p>
        </p:txBody>
      </p:sp>
      <p:sp>
        <p:nvSpPr>
          <p:cNvPr id="5" name="TextBox 4"/>
          <p:cNvSpPr txBox="1"/>
          <p:nvPr/>
        </p:nvSpPr>
        <p:spPr>
          <a:xfrm>
            <a:off x="502920" y="411480"/>
            <a:ext cx="11247120" cy="1005840"/>
          </a:xfrm>
          <a:prstGeom prst="rect">
            <a:avLst/>
          </a:prstGeom>
          <a:noFill/>
        </p:spPr>
        <p:txBody>
          <a:bodyPr wrap="square">
            <a:spAutoFit/>
          </a:bodyPr>
          <a:lstStyle/>
          <a:p>
            <a:r>
              <a:rPr sz="2900" b="1">
                <a:solidFill>
                  <a:srgbClr val="E7ECF3"/>
                </a:solidFill>
                <a:latin typeface="Calibri"/>
              </a:rPr>
              <a:t>One-line answers across the themes</a:t>
            </a:r>
          </a:p>
        </p:txBody>
      </p:sp>
      <p:sp>
        <p:nvSpPr>
          <p:cNvPr id="6" name="Rectangle 5"/>
          <p:cNvSpPr/>
          <p:nvPr/>
        </p:nvSpPr>
        <p:spPr>
          <a:xfrm>
            <a:off x="530352" y="1124712"/>
            <a:ext cx="1097280" cy="50800"/>
          </a:xfrm>
          <a:prstGeom prst="rect">
            <a:avLst/>
          </a:prstGeom>
          <a:solidFill>
            <a:srgbClr val="7C6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10972800" cy="4572000"/>
          </a:xfrm>
          <a:prstGeom prst="rect">
            <a:avLst/>
          </a:prstGeom>
          <a:noFill/>
        </p:spPr>
        <p:txBody>
          <a:bodyPr wrap="square">
            <a:spAutoFit/>
          </a:bodyPr>
          <a:lstStyle/>
          <a:p>
            <a:pPr>
              <a:spcAft>
                <a:spcPts val="800"/>
              </a:spcAft>
            </a:pPr>
            <a:r>
              <a:rPr sz="1500">
                <a:solidFill>
                  <a:srgbClr val="7C6CFF"/>
                </a:solidFill>
                <a:latin typeface="Calibri"/>
              </a:rPr>
              <a:t>▸  </a:t>
            </a:r>
            <a:r>
              <a:rPr sz="1500" b="1">
                <a:solidFill>
                  <a:srgbClr val="22D3EE"/>
                </a:solidFill>
                <a:latin typeface="Calibri"/>
              </a:rPr>
              <a:t>Mobile challenge</a:t>
            </a:r>
            <a:r>
              <a:rPr sz="1500" b="0">
                <a:solidFill>
                  <a:srgbClr val="E7ECF3"/>
                </a:solidFill>
                <a:latin typeface="Calibri"/>
              </a:rPr>
              <a:t>: hard to aim a camera without sight; my fix triggers a *live* filter so framing is continuous, not one photo</a:t>
            </a:r>
          </a:p>
          <a:p>
            <a:pPr>
              <a:spcAft>
                <a:spcPts val="800"/>
              </a:spcAft>
            </a:pPr>
            <a:r>
              <a:rPr sz="1500">
                <a:solidFill>
                  <a:srgbClr val="7C6CFF"/>
                </a:solidFill>
                <a:latin typeface="Calibri"/>
              </a:rPr>
              <a:t>▸  </a:t>
            </a:r>
            <a:r>
              <a:rPr sz="1500" b="1">
                <a:solidFill>
                  <a:srgbClr val="22D3EE"/>
                </a:solidFill>
                <a:latin typeface="Calibri"/>
              </a:rPr>
              <a:t>Design principle</a:t>
            </a:r>
            <a:r>
              <a:rPr sz="1500" b="0">
                <a:solidFill>
                  <a:srgbClr val="E7ECF3"/>
                </a:solidFill>
                <a:latin typeface="Calibri"/>
              </a:rPr>
              <a:t>: keep the user in control — confirm-to-run honours </a:t>
            </a:r>
            <a:r>
              <a:rPr sz="1500" b="1">
                <a:solidFill>
                  <a:srgbClr val="22D3EE"/>
                </a:solidFill>
                <a:latin typeface="Calibri"/>
              </a:rPr>
              <a:t>direct manipulation</a:t>
            </a:r>
            <a:r>
              <a:rPr sz="1500" b="0">
                <a:solidFill>
                  <a:srgbClr val="E7ECF3"/>
                </a:solidFill>
                <a:latin typeface="Calibri"/>
              </a:rPr>
              <a:t> over silent agents</a:t>
            </a:r>
          </a:p>
          <a:p>
            <a:pPr>
              <a:spcAft>
                <a:spcPts val="800"/>
              </a:spcAft>
            </a:pPr>
            <a:r>
              <a:rPr sz="1500">
                <a:solidFill>
                  <a:srgbClr val="7C6CFF"/>
                </a:solidFill>
                <a:latin typeface="Calibri"/>
              </a:rPr>
              <a:t>▸  </a:t>
            </a:r>
            <a:r>
              <a:rPr sz="1500" b="1">
                <a:solidFill>
                  <a:srgbClr val="22D3EE"/>
                </a:solidFill>
                <a:latin typeface="Calibri"/>
              </a:rPr>
              <a:t>Modalities</a:t>
            </a:r>
            <a:r>
              <a:rPr sz="1500" b="0">
                <a:solidFill>
                  <a:srgbClr val="E7ECF3"/>
                </a:solidFill>
                <a:latin typeface="Calibri"/>
              </a:rPr>
              <a:t>: input = touch/speech/camera; I add </a:t>
            </a:r>
            <a:r>
              <a:rPr sz="1500" b="1">
                <a:solidFill>
                  <a:srgbClr val="22D3EE"/>
                </a:solidFill>
                <a:latin typeface="Calibri"/>
              </a:rPr>
              <a:t>context</a:t>
            </a:r>
            <a:r>
              <a:rPr sz="1500" b="0">
                <a:solidFill>
                  <a:srgbClr val="E7ECF3"/>
                </a:solidFill>
                <a:latin typeface="Calibri"/>
              </a:rPr>
              <a:t> (location/time/object) as a trigger; output = audio + </a:t>
            </a:r>
            <a:r>
              <a:rPr sz="1500" b="1">
                <a:solidFill>
                  <a:srgbClr val="22D3EE"/>
                </a:solidFill>
                <a:latin typeface="Calibri"/>
              </a:rPr>
              <a:t>Braille</a:t>
            </a:r>
          </a:p>
          <a:p>
            <a:pPr>
              <a:spcAft>
                <a:spcPts val="800"/>
              </a:spcAft>
            </a:pPr>
            <a:r>
              <a:rPr sz="1500">
                <a:solidFill>
                  <a:srgbClr val="7C6CFF"/>
                </a:solidFill>
                <a:latin typeface="Calibri"/>
              </a:rPr>
              <a:t>▸  </a:t>
            </a:r>
            <a:r>
              <a:rPr sz="1500" b="1">
                <a:solidFill>
                  <a:srgbClr val="22D3EE"/>
                </a:solidFill>
                <a:latin typeface="Calibri"/>
              </a:rPr>
              <a:t>Interaction qualities</a:t>
            </a:r>
            <a:r>
              <a:rPr sz="1500" b="0">
                <a:solidFill>
                  <a:srgbClr val="E7ECF3"/>
                </a:solidFill>
                <a:latin typeface="Calibri"/>
              </a:rPr>
              <a:t>: paper boosts </a:t>
            </a:r>
            <a:r>
              <a:rPr sz="1500" b="1">
                <a:solidFill>
                  <a:srgbClr val="22D3EE"/>
                </a:solidFill>
                <a:latin typeface="Calibri"/>
              </a:rPr>
              <a:t>expressiveness</a:t>
            </a:r>
            <a:r>
              <a:rPr sz="1500" b="0">
                <a:solidFill>
                  <a:srgbClr val="E7ECF3"/>
                </a:solidFill>
                <a:latin typeface="Calibri"/>
              </a:rPr>
              <a:t>; I boost </a:t>
            </a:r>
            <a:r>
              <a:rPr sz="1500" b="1">
                <a:solidFill>
                  <a:srgbClr val="22D3EE"/>
                </a:solidFill>
                <a:latin typeface="Calibri"/>
              </a:rPr>
              <a:t>approachability</a:t>
            </a:r>
            <a:r>
              <a:rPr sz="1500" b="0">
                <a:solidFill>
                  <a:srgbClr val="E7ECF3"/>
                </a:solidFill>
                <a:latin typeface="Calibri"/>
              </a:rPr>
              <a:t>, </a:t>
            </a:r>
            <a:r>
              <a:rPr sz="1500" b="1">
                <a:solidFill>
                  <a:srgbClr val="22D3EE"/>
                </a:solidFill>
                <a:latin typeface="Calibri"/>
              </a:rPr>
              <a:t>efficiency</a:t>
            </a:r>
            <a:r>
              <a:rPr sz="1500" b="0">
                <a:solidFill>
                  <a:srgbClr val="E7ECF3"/>
                </a:solidFill>
                <a:latin typeface="Calibri"/>
              </a:rPr>
              <a:t>, </a:t>
            </a:r>
            <a:r>
              <a:rPr sz="1500" b="1">
                <a:solidFill>
                  <a:srgbClr val="22D3EE"/>
                </a:solidFill>
                <a:latin typeface="Calibri"/>
              </a:rPr>
              <a:t>discoverability</a:t>
            </a:r>
          </a:p>
          <a:p>
            <a:pPr>
              <a:spcAft>
                <a:spcPts val="800"/>
              </a:spcAft>
            </a:pPr>
            <a:r>
              <a:rPr sz="1500">
                <a:solidFill>
                  <a:srgbClr val="7C6CFF"/>
                </a:solidFill>
                <a:latin typeface="Calibri"/>
              </a:rPr>
              <a:t>▸  </a:t>
            </a:r>
            <a:r>
              <a:rPr sz="1500" b="1">
                <a:solidFill>
                  <a:srgbClr val="22D3EE"/>
                </a:solidFill>
                <a:latin typeface="Calibri"/>
              </a:rPr>
              <a:t>Context of use</a:t>
            </a:r>
            <a:r>
              <a:rPr sz="1500" b="0">
                <a:solidFill>
                  <a:srgbClr val="E7ECF3"/>
                </a:solidFill>
                <a:latin typeface="Calibri"/>
              </a:rPr>
              <a:t>: ISO physical/temporal/task/social/technical — my triggers are literally </a:t>
            </a:r>
            <a:r>
              <a:rPr sz="1500" b="1">
                <a:solidFill>
                  <a:srgbClr val="22D3EE"/>
                </a:solidFill>
                <a:latin typeface="Calibri"/>
              </a:rPr>
              <a:t>context-driven</a:t>
            </a:r>
          </a:p>
          <a:p>
            <a:pPr>
              <a:spcAft>
                <a:spcPts val="800"/>
              </a:spcAft>
            </a:pPr>
            <a:r>
              <a:rPr sz="1500">
                <a:solidFill>
                  <a:srgbClr val="7C6CFF"/>
                </a:solidFill>
                <a:latin typeface="Calibri"/>
              </a:rPr>
              <a:t>▸  </a:t>
            </a:r>
            <a:r>
              <a:rPr sz="1500" b="1">
                <a:solidFill>
                  <a:srgbClr val="22D3EE"/>
                </a:solidFill>
                <a:latin typeface="Calibri"/>
              </a:rPr>
              <a:t>Data &amp; methods</a:t>
            </a:r>
            <a:r>
              <a:rPr sz="1500" b="0">
                <a:solidFill>
                  <a:srgbClr val="E7ECF3"/>
                </a:solidFill>
                <a:latin typeface="Calibri"/>
              </a:rPr>
              <a:t>: paper is qualitative think-aloud + Likert; mine adds in-the-wild diary + trigger logs</a:t>
            </a:r>
          </a:p>
          <a:p>
            <a:pPr>
              <a:spcAft>
                <a:spcPts val="800"/>
              </a:spcAft>
            </a:pPr>
            <a:r>
              <a:rPr sz="1500">
                <a:solidFill>
                  <a:srgbClr val="7C6CFF"/>
                </a:solidFill>
                <a:latin typeface="Calibri"/>
              </a:rPr>
              <a:t>▸  </a:t>
            </a:r>
            <a:r>
              <a:rPr sz="1500" b="1">
                <a:solidFill>
                  <a:srgbClr val="22D3EE"/>
                </a:solidFill>
                <a:latin typeface="Calibri"/>
              </a:rPr>
              <a:t>Study design</a:t>
            </a:r>
            <a:r>
              <a:rPr sz="1500" b="0">
                <a:solidFill>
                  <a:srgbClr val="E7ECF3"/>
                </a:solidFill>
                <a:latin typeface="Calibri"/>
              </a:rPr>
              <a:t>: paper = one-off lab non-experiment; mine = 2-week field quasi-experiment, judged on </a:t>
            </a:r>
            <a:r>
              <a:rPr sz="1500" b="1">
                <a:solidFill>
                  <a:srgbClr val="22D3EE"/>
                </a:solidFill>
                <a:latin typeface="Calibri"/>
              </a:rPr>
              <a:t>trust</a:t>
            </a:r>
            <a:r>
              <a:rPr sz="1500" b="0">
                <a:solidFill>
                  <a:srgbClr val="E7ECF3"/>
                </a:solidFill>
                <a:latin typeface="Calibri"/>
              </a:rPr>
              <a:t> and burden</a:t>
            </a:r>
          </a:p>
        </p:txBody>
      </p:sp>
      <p:sp>
        <p:nvSpPr>
          <p:cNvPr id="8" name="Rounded Rectangle 7"/>
          <p:cNvSpPr/>
          <p:nvPr/>
        </p:nvSpPr>
        <p:spPr>
          <a:xfrm>
            <a:off x="640080" y="5029200"/>
            <a:ext cx="10881360" cy="1143000"/>
          </a:xfrm>
          <a:prstGeom prst="roundRect">
            <a:avLst/>
          </a:prstGeom>
          <a:solidFill>
            <a:srgbClr val="161B26"/>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tIns="91440"/>
          <a:lstStyle/>
          <a:p>
            <a:pPr algn="ctr"/>
            <a:r>
              <a:rPr sz="1600" i="1">
                <a:solidFill>
                  <a:srgbClr val="E7ECF3"/>
                </a:solidFill>
                <a:latin typeface="Calibri"/>
              </a:rPr>
              <a:t>“It's all contextual... I would use different methods based on what I knew about the environment.”</a:t>
            </a:r>
          </a:p>
          <a:p>
            <a:r>
              <a:rPr sz="1100">
                <a:solidFill>
                  <a:srgbClr val="22D3EE"/>
                </a:solidFill>
                <a:latin typeface="Calibri"/>
              </a:rPr>
              <a:t>— R4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