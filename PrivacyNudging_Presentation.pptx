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calmly. ~6 minutes total: ~3:45 on the paper, ~2:15 on my own idea. I walk the paper through nine steps like a story, then tell my own idea in the SAME nine steps so it mirrors the paper.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keeps the talk structured and easy to follow. The examiner can see I'm using the course's study-design vocabulary as a backbone.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paper itself, through the nine steps.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[0:00–0:35] This paper is by Almuhimedi and colleagues, from CHI 2015, from the Lecture 8 topic on online privacy. The problem is information asymmetry — one side knows much more than the other. Smartphone users do not know how often their apps take private data in the background, or which data they take. The authors link this to the privacy paradox — the gap between what users say they care about and what their settings actually allow. So their goal is two questions. RQ1: does a detailed permission manager really help people check and change app permissions? RQ2: can privacy nudges — small reminders that gently push you to act — make this work even better? A nudge is soft-paternalistic: it guides you, but never forces you. 'Keep sharing' is always still an option.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[0:35–0:50] Their worldview is mostly positivism — there is one measurable truth you can count. They count reviews, percentages, and run a regression. But they add a real interpretativism part through interviews, to explain the why. So it is mixed methods, leaning positivist.</a:t>
            </a:r>
          </a:p>
          <a:p/>
          <a:p>
            <a:r>
              <a:t>[0:50–1:05] The method is a mixed-methods, within-subjects quasi-experiment — everyone does every condition, but it is not a fully clean experiment. There is no separate no-nudge control group running at the same time. So it is a quasi-experiment.</a:t>
            </a:r>
          </a:p>
          <a:p/>
          <a:p>
            <a:r>
              <a:t>[1:05–1:25] The setting is a real-life field study — the real world, not a lab. It ran on people's own Android phones, with their own apps, at real times of day. So it sits far toward the realism side of the control–realism scale, which the authors say raises ecological validity. For time, it is longitudinal: 22 days. So it is far from a one-off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[1:25–1:55] Now the design. It is within-subjects — everyone goes through all three phases. The real independent variable is the phase, with three levels. Phase 1 was a seven-day silent baseline, before any treatment. Phase 2 was the permission manager only, for seven days: they took Android's hidden AppOps and showed it through their study launcher, so users could limit each app-and-permission pair. Phase 3 was the manager plus one nudge a day, for eight days. The nudge is the new part: a personalised, full-screen privacy nudge built from each user's own access logs. The big line is one number: 'your location has been shared 5,398 times.' It gives three options, using enhanced active choice — you must make a clear choice: change settings, show-me-more, or keep-sharing. They randomly mixed the order of the four nudge types to reduce order effects, but did NOT mix the order of the phases — so this is not full counterbalancing. The main dependent variables are: reviewing (opening AppOps) and adjusting (limiting or allowing).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[1:55–2:10] There were 23 participants, 65% female, with a median age of 23. They were recruited locally, through Craigslist and a university pool, and had to come in person. They needed a narrow Android version, 4.3 to 4.4.1, for AppOps, and had to promise not to update. Three people were later removed for upgrading.</a:t>
            </a:r>
          </a:p>
          <a:p/>
          <a:p>
            <a:r>
              <a:t>[2:10–2:30] The procedure follows the three phases in order. People came in, gave consent, and did an entry survey. Then Phase 1: seven silent baseline days, just logging. Then Phase 2: seven days with AppOps available. Then Phase 3: eight days with one nudge a day, built from their own logs. At the end, an exit survey and interviews. The system sampled the AppOps state every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[2:30–3:25] DATA: most of it is observed, behavioral system logs — what people actually did: five-minute logs of reviews and restrictions, and nudge taps (42% change, 25% keep, 33% ignored). There is also self-reported attitudinal data — a five-level Likert comfort scale and interviews with eight people. Behavioral data is always observed; attitudinal is always self-reported. So the spine is observed behaviour, with self-report to explain the why.</a:t>
            </a:r>
          </a:p>
          <a:p/>
          <a:p>
            <a:r>
              <a:t>ANALYSIS &amp; FINDINGS: the analysis is mixed — counts and percentages plus one random-effects regression, and thematic analysis on the qualitative side. The findings come in three parts. One: the manager alone already works — 22 of 23 checked, 65% made changes. Two: nudges add real value on top — even after a week, 95% checked again and 58% limited access even more. Three: access frequency was the magic — all eight interviewees said the big number grabbed them. P10 said '4,182 times… it felt like I'm being followed by my own phone. It was scary.' That shows phone-as-extension-of-self, and the regression linked frequency to choosing to change settings.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[3:25–3:45] So the design ideas are: personalise — stop nudging about apps the user already accepted. Make it 'salient, sticky, but not annoying' — easy to notice, stays around, not irritating. The nudge's main job is feedback / visibility of system status — Nielsen #1, showing what the system is doing: it makes invisible background access visible. It also fixes a discoverability problem — 91% had never used AppOps. The contribution is mainly empirical — new findings from a study — with a strong artifact contribution in the nudge, a built thing.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my own idea, told in the same nine steps so it mirrors the paper.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[3:45–4:15] That leads to my own idea. It targets the paper's clearest weak point: it is blind to the context of use — the situation the user is in. The nudge fired at a random time between 11am and 8pm. So P4 always got it at work. And P19 got one mid-run, and it covered their running app. The key point: when people pressed 'keep sharing,' the interviews show it was often just getting rid of a badly-timed interruption, not a real privacy choice. My idea is PrivacyMoment. Its goal: keep the frequency nudge that works, but fire it only at a good moment, so a dismissal means a real choice — not a fix for bad timing.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[4:15–4:45] PrivacyMoment is the same soft-paternalistic frequency nudge. But it respects temporal and task context — the time, and what task the user is doing. It does not fire at a random clock time. It senses the situation: is a foreground app running? Is the phone moving, using the accelerometer? Is the calendar busy? It fires only when the nudge can be the foreground task, so it does not break into another task. It is multimodal on the sensing side: the accelerometer for motion, the app-foreground state, and the calendar. It handles situational impairment, like running or driving. I add a sticky 'remind me later,' so a bad moment reschedules the nudge instead of forcing a fake 'keep sharing.' I personalise: once you mark an app as 'I'm comfortable with this,' it drops out. And I add feedforward — each option shows what will happen: before you revoke, it shows what might break.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[4:45–5:55] To test it, I follow the same nine steps. Goal: does context-aware timing cause fewer bad-timing dismissals than random timing? Worldview: positivist — I want a measurable, generalisable comparison. Method: a field experiment with a clean control group. Setting and time: a field study on their own phones, because the whole point is real interruptions, so I want ecological validity; and longitudinal, about three to four weeks, to kill novelty effects. Design: between-subjects, not within-subjects — because once you have seen your privacy stats, you cannot un-see them, so within-subjects would carry order and learning effects. My IV is the timing strategy, with two levels: random-time (the control) versus context-aware PrivacyMoment. My directional hypothesis H1 is that context-aware timing gives a lower bad-timing dismissal rate; the null H0 is no difference, written before the data to avoid HARKing. My key DV is that dismissal rate; I also measure number of reviews and number of restrictive changes. Participants: a more mixed sample than N=23 students, for external validity, with a power calculation pointing to about N=157. Procedure: entry session and consent, a baseline week, then random assignment to group A or B, then the intervention weeks with one nudge a day on location, contacts, calendar, and call logs, then an exit survey and interview. Data: observed behavioral logs plus self-reported comfort, on three axes. Analysis: the non-parametric Mann-Whitney U test with an effect size. The trade-off is on purpose: I sit toward realism and accept weaker internal validity, because field confounds like the connectivity problem this paper hit do creep in. I do this to learn how the nudge truly works in real life. Thank you.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Invite questions. Backup slides follow: classification cheat-sheet, weaknesses, contexts of use, privacy terminology, and Q&amp;A one-liners.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reference if asked to classify the study on any axis.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strongest critiques, ordered by what I'd raise first. Each ties to a course term: internal/external/ecological validity, carry-over confound, construct validity, novelty/habituation, power and effect size.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is strong on technical and social context, weak on temporal and task — which is exactly the gap PrivacyMoment fixes. Keep ISO 'physical context' (body/movement) separate from the screen-space mobile design challenge.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 to say: concern exists (paradox) → invasion with no recourse → learned helplessness → people stop responding → a well-timed nudge restores control and cuts information asymmetry, which is Altman's idea of regulating access — as long as it never becomes a dark pattern.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per course theme so I can answer any of the seven exam questions quickly, always linking the paper to my own idea.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0"/>
            <a:ext cx="10058400" cy="457200"/>
          </a:xfrm>
          <a:prstGeom prst="rect">
            <a:avLst/>
          </a:prstGeom>
          <a:noFill/>
        </p:spPr>
        <p:txBody>
          <a:bodyPr wrap="none">
            <a:spAutoFit/>
          </a:bodyPr>
          <a:lstStyle/>
          <a:p>
            <a:r>
              <a:rPr sz="1500" b="1">
                <a:solidFill>
                  <a:srgbClr val="22D3EE"/>
                </a:solidFill>
                <a:latin typeface="Calibri"/>
              </a:rPr>
              <a:t>MOBILE HCI · ORAL EXAM</a:t>
            </a:r>
          </a:p>
        </p:txBody>
      </p:sp>
      <p:sp>
        <p:nvSpPr>
          <p:cNvPr id="4" name="TextBox 3"/>
          <p:cNvSpPr txBox="1"/>
          <p:nvPr/>
        </p:nvSpPr>
        <p:spPr>
          <a:xfrm>
            <a:off x="640080" y="1920240"/>
            <a:ext cx="10972800" cy="2103120"/>
          </a:xfrm>
          <a:prstGeom prst="rect">
            <a:avLst/>
          </a:prstGeom>
          <a:noFill/>
        </p:spPr>
        <p:txBody>
          <a:bodyPr wrap="square">
            <a:spAutoFit/>
          </a:bodyPr>
          <a:lstStyle/>
          <a:p>
            <a:r>
              <a:rPr sz="4000" b="1">
                <a:solidFill>
                  <a:srgbClr val="E7ECF3"/>
                </a:solidFill>
                <a:latin typeface="Calibri"/>
              </a:rPr>
              <a:t>Your Location Has Been Shared 5,398 Times!</a:t>
            </a:r>
          </a:p>
          <a:p>
            <a:r>
              <a:rPr sz="2400">
                <a:solidFill>
                  <a:srgbClr val="B6BFCF"/>
                </a:solidFill>
                <a:latin typeface="Calibri"/>
              </a:rPr>
              <a:t>A Field Study on Mobile App Privacy Nudging</a:t>
            </a:r>
          </a:p>
        </p:txBody>
      </p:sp>
      <p:sp>
        <p:nvSpPr>
          <p:cNvPr id="5" name="TextBox 4"/>
          <p:cNvSpPr txBox="1"/>
          <p:nvPr/>
        </p:nvSpPr>
        <p:spPr>
          <a:xfrm>
            <a:off x="658368" y="4297680"/>
            <a:ext cx="10972800" cy="914400"/>
          </a:xfrm>
          <a:prstGeom prst="rect">
            <a:avLst/>
          </a:prstGeom>
          <a:noFill/>
        </p:spPr>
        <p:txBody>
          <a:bodyPr wrap="none">
            <a:spAutoFit/>
          </a:bodyPr>
          <a:lstStyle/>
          <a:p>
            <a:r>
              <a:rPr sz="1800">
                <a:solidFill>
                  <a:srgbClr val="E7ECF3"/>
                </a:solidFill>
                <a:latin typeface="Calibri"/>
              </a:rPr>
              <a:t>Almuhimedi, Schaub, Sadeh, Adjerid, Acquisti et al. — CHI 2015</a:t>
            </a:r>
          </a:p>
          <a:p>
            <a:r>
              <a:rPr sz="1400" i="1">
                <a:solidFill>
                  <a:srgbClr val="778295"/>
                </a:solidFill>
                <a:latin typeface="Calibri"/>
              </a:rPr>
              <a:t>Lecture 8 — Online Privacy   ·   + my own idea: PrivacyMoment</a:t>
            </a:r>
          </a:p>
        </p:txBody>
      </p:sp>
      <p:sp>
        <p:nvSpPr>
          <p:cNvPr id="6" name="Rectangle 5"/>
          <p:cNvSpPr/>
          <p:nvPr/>
        </p:nvSpPr>
        <p:spPr>
          <a:xfrm>
            <a:off x="658368" y="4160520"/>
            <a:ext cx="182880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How I'll walk through it</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197864"/>
            <a:ext cx="10972800" cy="457200"/>
          </a:xfrm>
          <a:prstGeom prst="rect">
            <a:avLst/>
          </a:prstGeom>
          <a:noFill/>
        </p:spPr>
        <p:txBody>
          <a:bodyPr wrap="none">
            <a:spAutoFit/>
          </a:bodyPr>
          <a:lstStyle/>
          <a:p>
            <a:r>
              <a:rPr sz="1400" i="1">
                <a:solidFill>
                  <a:srgbClr val="778295"/>
                </a:solidFill>
                <a:latin typeface="Calibri"/>
              </a:rPr>
              <a:t>Nine steps, like a story — then design ideas, then my own idea in the same nine steps</a:t>
            </a:r>
          </a:p>
        </p:txBody>
      </p:sp>
      <p:sp>
        <p:nvSpPr>
          <p:cNvPr id="8" name="TextBox 7"/>
          <p:cNvSpPr txBox="1"/>
          <p:nvPr/>
        </p:nvSpPr>
        <p:spPr>
          <a:xfrm>
            <a:off x="640080" y="1737360"/>
            <a:ext cx="10972800" cy="4572000"/>
          </a:xfrm>
          <a:prstGeom prst="rect">
            <a:avLst/>
          </a:prstGeom>
          <a:noFill/>
        </p:spPr>
        <p:txBody>
          <a:bodyPr wrap="square">
            <a:spAutoFit/>
          </a:bodyPr>
          <a:lstStyle/>
          <a:p>
            <a:pPr>
              <a:spcBef>
                <a:spcPts val="0"/>
              </a:spcBef>
              <a:spcAft>
                <a:spcPts val="1600"/>
              </a:spcAft>
            </a:pPr>
            <a:r>
              <a:rPr sz="2200">
                <a:solidFill>
                  <a:srgbClr val="7C6CFF"/>
                </a:solidFill>
                <a:latin typeface="Calibri"/>
              </a:rPr>
              <a:t>▸  </a:t>
            </a:r>
            <a:r>
              <a:rPr sz="2200" b="1">
                <a:solidFill>
                  <a:srgbClr val="22D3EE"/>
                </a:solidFill>
                <a:latin typeface="Calibri"/>
              </a:rPr>
              <a:t>Goal</a:t>
            </a:r>
            <a:r>
              <a:rPr sz="2200" b="0">
                <a:solidFill>
                  <a:srgbClr val="E7ECF3"/>
                </a:solidFill>
                <a:latin typeface="Calibri"/>
              </a:rPr>
              <a:t> → </a:t>
            </a:r>
            <a:r>
              <a:rPr sz="2200" b="1">
                <a:solidFill>
                  <a:srgbClr val="22D3EE"/>
                </a:solidFill>
                <a:latin typeface="Calibri"/>
              </a:rPr>
              <a:t>Worldview</a:t>
            </a:r>
            <a:r>
              <a:rPr sz="2200" b="0">
                <a:solidFill>
                  <a:srgbClr val="E7ECF3"/>
                </a:solidFill>
                <a:latin typeface="Calibri"/>
              </a:rPr>
              <a:t> → </a:t>
            </a:r>
            <a:r>
              <a:rPr sz="2200" b="1">
                <a:solidFill>
                  <a:srgbClr val="22D3EE"/>
                </a:solidFill>
                <a:latin typeface="Calibri"/>
              </a:rPr>
              <a:t>Method</a:t>
            </a:r>
            <a:r>
              <a:rPr sz="2200" b="0">
                <a:solidFill>
                  <a:srgbClr val="E7ECF3"/>
                </a:solidFill>
                <a:latin typeface="Calibri"/>
              </a:rPr>
              <a:t> → </a:t>
            </a:r>
            <a:r>
              <a:rPr sz="2200" b="1">
                <a:solidFill>
                  <a:srgbClr val="22D3EE"/>
                </a:solidFill>
                <a:latin typeface="Calibri"/>
              </a:rPr>
              <a:t>Lab/Field + Time</a:t>
            </a:r>
          </a:p>
          <a:p>
            <a:pPr>
              <a:spcBef>
                <a:spcPts val="0"/>
              </a:spcBef>
              <a:spcAft>
                <a:spcPts val="1600"/>
              </a:spcAft>
            </a:pPr>
            <a:r>
              <a:rPr sz="2200">
                <a:solidFill>
                  <a:srgbClr val="7C6CFF"/>
                </a:solidFill>
                <a:latin typeface="Calibri"/>
              </a:rPr>
              <a:t>▸  </a:t>
            </a:r>
            <a:r>
              <a:rPr sz="2200" b="1">
                <a:solidFill>
                  <a:srgbClr val="22D3EE"/>
                </a:solidFill>
                <a:latin typeface="Calibri"/>
              </a:rPr>
              <a:t>Design details</a:t>
            </a:r>
            <a:r>
              <a:rPr sz="2200" b="0">
                <a:solidFill>
                  <a:srgbClr val="E7ECF3"/>
                </a:solidFill>
                <a:latin typeface="Calibri"/>
              </a:rPr>
              <a:t> → </a:t>
            </a:r>
            <a:r>
              <a:rPr sz="2200" b="1">
                <a:solidFill>
                  <a:srgbClr val="22D3EE"/>
                </a:solidFill>
                <a:latin typeface="Calibri"/>
              </a:rPr>
              <a:t>Participants</a:t>
            </a:r>
            <a:r>
              <a:rPr sz="2200" b="0">
                <a:solidFill>
                  <a:srgbClr val="E7ECF3"/>
                </a:solidFill>
                <a:latin typeface="Calibri"/>
              </a:rPr>
              <a:t> → </a:t>
            </a:r>
            <a:r>
              <a:rPr sz="2200" b="1">
                <a:solidFill>
                  <a:srgbClr val="22D3EE"/>
                </a:solidFill>
                <a:latin typeface="Calibri"/>
              </a:rPr>
              <a:t>Procedure</a:t>
            </a:r>
          </a:p>
          <a:p>
            <a:pPr>
              <a:spcBef>
                <a:spcPts val="0"/>
              </a:spcBef>
              <a:spcAft>
                <a:spcPts val="1600"/>
              </a:spcAft>
            </a:pPr>
            <a:r>
              <a:rPr sz="2200">
                <a:solidFill>
                  <a:srgbClr val="7C6CFF"/>
                </a:solidFill>
                <a:latin typeface="Calibri"/>
              </a:rPr>
              <a:t>▸  </a:t>
            </a:r>
            <a:r>
              <a:rPr sz="2200" b="1">
                <a:solidFill>
                  <a:srgbClr val="22D3EE"/>
                </a:solidFill>
                <a:latin typeface="Calibri"/>
              </a:rPr>
              <a:t>Data</a:t>
            </a:r>
            <a:r>
              <a:rPr sz="2200" b="0">
                <a:solidFill>
                  <a:srgbClr val="E7ECF3"/>
                </a:solidFill>
                <a:latin typeface="Calibri"/>
              </a:rPr>
              <a:t> → </a:t>
            </a:r>
            <a:r>
              <a:rPr sz="2200" b="1">
                <a:solidFill>
                  <a:srgbClr val="22D3EE"/>
                </a:solidFill>
                <a:latin typeface="Calibri"/>
              </a:rPr>
              <a:t>Analysis + Findings</a:t>
            </a:r>
          </a:p>
          <a:p>
            <a:pPr>
              <a:spcBef>
                <a:spcPts val="0"/>
              </a:spcBef>
              <a:spcAft>
                <a:spcPts val="1600"/>
              </a:spcAft>
            </a:pPr>
            <a:r>
              <a:rPr sz="2200">
                <a:solidFill>
                  <a:srgbClr val="7C6CFF"/>
                </a:solidFill>
                <a:latin typeface="Calibri"/>
              </a:rPr>
              <a:t>▸  </a:t>
            </a:r>
            <a:r>
              <a:rPr sz="2200" b="0">
                <a:solidFill>
                  <a:srgbClr val="E7ECF3"/>
                </a:solidFill>
                <a:latin typeface="Calibri"/>
              </a:rPr>
              <a:t>Then: </a:t>
            </a:r>
            <a:r>
              <a:rPr sz="2200" b="1">
                <a:solidFill>
                  <a:srgbClr val="22D3EE"/>
                </a:solidFill>
                <a:latin typeface="Calibri"/>
              </a:rPr>
              <a:t>design implications</a:t>
            </a:r>
            <a:r>
              <a:rPr sz="2200" b="0">
                <a:solidFill>
                  <a:srgbClr val="E7ECF3"/>
                </a:solidFill>
                <a:latin typeface="Calibri"/>
              </a:rPr>
              <a:t> + </a:t>
            </a:r>
            <a:r>
              <a:rPr sz="2200" b="1">
                <a:solidFill>
                  <a:srgbClr val="22D3EE"/>
                </a:solidFill>
                <a:latin typeface="Calibri"/>
              </a:rPr>
              <a:t>contribution type</a:t>
            </a:r>
          </a:p>
          <a:p>
            <a:pPr>
              <a:spcBef>
                <a:spcPts val="0"/>
              </a:spcBef>
              <a:spcAft>
                <a:spcPts val="1600"/>
              </a:spcAft>
            </a:pPr>
            <a:r>
              <a:rPr sz="2200">
                <a:solidFill>
                  <a:srgbClr val="7C6CFF"/>
                </a:solidFill>
                <a:latin typeface="Calibri"/>
              </a:rPr>
              <a:t>▸  </a:t>
            </a:r>
            <a:r>
              <a:rPr sz="2200" b="0">
                <a:solidFill>
                  <a:srgbClr val="E7ECF3"/>
                </a:solidFill>
                <a:latin typeface="Calibri"/>
              </a:rPr>
              <a:t>Then: </a:t>
            </a:r>
            <a:r>
              <a:rPr sz="2200" b="1">
                <a:solidFill>
                  <a:srgbClr val="22D3EE"/>
                </a:solidFill>
                <a:latin typeface="Calibri"/>
              </a:rPr>
              <a:t>my idea (PrivacyMoment)</a:t>
            </a:r>
            <a:r>
              <a:rPr sz="2200" b="0">
                <a:solidFill>
                  <a:srgbClr val="E7ECF3"/>
                </a:solidFill>
                <a:latin typeface="Calibri"/>
              </a:rPr>
              <a:t> — told in the same 9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2377440"/>
            <a:ext cx="12191695" cy="210312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97480"/>
            <a:ext cx="10515600" cy="1280160"/>
          </a:xfrm>
          <a:prstGeom prst="rect">
            <a:avLst/>
          </a:prstGeom>
          <a:noFill/>
        </p:spPr>
        <p:txBody>
          <a:bodyPr wrap="square">
            <a:spAutoFit/>
          </a:bodyPr>
          <a:lstStyle/>
          <a:p>
            <a:r>
              <a:rPr sz="4000" b="1">
                <a:solidFill>
                  <a:srgbClr val="E7ECF3"/>
                </a:solidFill>
                <a:latin typeface="Calibri"/>
              </a:rPr>
              <a:t>THE PAPER</a:t>
            </a:r>
          </a:p>
          <a:p>
            <a:r>
              <a:rPr sz="1600">
                <a:solidFill>
                  <a:srgbClr val="22D3EE"/>
                </a:solidFill>
                <a:latin typeface="Calibri"/>
              </a:rPr>
              <a:t>Almuhimedi et al.    ·    ≈ 3:45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2</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1 · Goal &amp; research questions</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197864"/>
            <a:ext cx="10972800" cy="457200"/>
          </a:xfrm>
          <a:prstGeom prst="rect">
            <a:avLst/>
          </a:prstGeom>
          <a:noFill/>
        </p:spPr>
        <p:txBody>
          <a:bodyPr wrap="none">
            <a:spAutoFit/>
          </a:bodyPr>
          <a:lstStyle/>
          <a:p>
            <a:r>
              <a:rPr sz="1400" i="1">
                <a:solidFill>
                  <a:srgbClr val="778295"/>
                </a:solidFill>
                <a:latin typeface="Calibri"/>
              </a:rPr>
              <a:t>What problem do they solve?</a:t>
            </a:r>
          </a:p>
        </p:txBody>
      </p:sp>
      <p:sp>
        <p:nvSpPr>
          <p:cNvPr id="8" name="TextBox 7"/>
          <p:cNvSpPr txBox="1"/>
          <p:nvPr/>
        </p:nvSpPr>
        <p:spPr>
          <a:xfrm>
            <a:off x="640080" y="1691640"/>
            <a:ext cx="10972800" cy="4572000"/>
          </a:xfrm>
          <a:prstGeom prst="rect">
            <a:avLst/>
          </a:prstGeom>
          <a:noFill/>
        </p:spPr>
        <p:txBody>
          <a:bodyPr wrap="square">
            <a:spAutoFit/>
          </a:bodyPr>
          <a:lstStyle/>
          <a:p>
            <a:pPr>
              <a:spcBef>
                <a:spcPts val="0"/>
              </a:spcBef>
              <a:spcAft>
                <a:spcPts val="1200"/>
              </a:spcAft>
            </a:pPr>
            <a:r>
              <a:rPr sz="1800">
                <a:solidFill>
                  <a:srgbClr val="7C6CFF"/>
                </a:solidFill>
                <a:latin typeface="Calibri"/>
              </a:rPr>
              <a:t>▸  </a:t>
            </a:r>
            <a:r>
              <a:rPr sz="1800" b="0">
                <a:solidFill>
                  <a:srgbClr val="E7ECF3"/>
                </a:solidFill>
                <a:latin typeface="Calibri"/>
              </a:rPr>
              <a:t>Problem = </a:t>
            </a:r>
            <a:r>
              <a:rPr sz="1800" b="1">
                <a:solidFill>
                  <a:srgbClr val="22D3EE"/>
                </a:solidFill>
                <a:latin typeface="Calibri"/>
              </a:rPr>
              <a:t>information asymmetry</a:t>
            </a:r>
            <a:r>
              <a:rPr sz="1800" b="0">
                <a:solidFill>
                  <a:srgbClr val="E7ECF3"/>
                </a:solidFill>
                <a:latin typeface="Calibri"/>
              </a:rPr>
              <a:t>: users don't know how often / which data apps take in the background</a:t>
            </a:r>
          </a:p>
          <a:p>
            <a:pPr>
              <a:spcBef>
                <a:spcPts val="0"/>
              </a:spcBef>
              <a:spcAft>
                <a:spcPts val="1200"/>
              </a:spcAft>
            </a:pPr>
            <a:r>
              <a:rPr sz="1800">
                <a:solidFill>
                  <a:srgbClr val="7C6CFF"/>
                </a:solidFill>
                <a:latin typeface="Calibri"/>
              </a:rPr>
              <a:t>▸  </a:t>
            </a:r>
            <a:r>
              <a:rPr sz="1800" b="0">
                <a:solidFill>
                  <a:srgbClr val="E7ECF3"/>
                </a:solidFill>
                <a:latin typeface="Calibri"/>
              </a:rPr>
              <a:t>Linked to the </a:t>
            </a:r>
            <a:r>
              <a:rPr sz="1800" b="1">
                <a:solidFill>
                  <a:srgbClr val="22D3EE"/>
                </a:solidFill>
                <a:latin typeface="Calibri"/>
              </a:rPr>
              <a:t>privacy paradox</a:t>
            </a:r>
            <a:r>
              <a:rPr sz="1800" b="0">
                <a:solidFill>
                  <a:srgbClr val="E7ECF3"/>
                </a:solidFill>
                <a:latin typeface="Calibri"/>
              </a:rPr>
              <a:t>: what users *say* ≠ what their settings allow</a:t>
            </a:r>
          </a:p>
          <a:p>
            <a:pPr>
              <a:spcBef>
                <a:spcPts val="0"/>
              </a:spcBef>
              <a:spcAft>
                <a:spcPts val="1200"/>
              </a:spcAft>
            </a:pPr>
            <a:r>
              <a:rPr sz="1800">
                <a:solidFill>
                  <a:srgbClr val="7C6CFF"/>
                </a:solidFill>
                <a:latin typeface="Calibri"/>
              </a:rPr>
              <a:t>▸  </a:t>
            </a:r>
            <a:r>
              <a:rPr sz="1800" b="1">
                <a:solidFill>
                  <a:srgbClr val="22D3EE"/>
                </a:solidFill>
                <a:latin typeface="Calibri"/>
              </a:rPr>
              <a:t>RQ1</a:t>
            </a:r>
            <a:r>
              <a:rPr sz="1800" b="0">
                <a:solidFill>
                  <a:srgbClr val="E7ECF3"/>
                </a:solidFill>
                <a:latin typeface="Calibri"/>
              </a:rPr>
              <a:t> — does a detailed </a:t>
            </a:r>
            <a:r>
              <a:rPr sz="1800" b="1">
                <a:solidFill>
                  <a:srgbClr val="22D3EE"/>
                </a:solidFill>
                <a:latin typeface="Calibri"/>
              </a:rPr>
              <a:t>permission manager</a:t>
            </a:r>
            <a:r>
              <a:rPr sz="1800" b="0">
                <a:solidFill>
                  <a:srgbClr val="E7ECF3"/>
                </a:solidFill>
                <a:latin typeface="Calibri"/>
              </a:rPr>
              <a:t> help people review &amp; change permissions?</a:t>
            </a:r>
          </a:p>
          <a:p>
            <a:pPr>
              <a:spcBef>
                <a:spcPts val="0"/>
              </a:spcBef>
              <a:spcAft>
                <a:spcPts val="1200"/>
              </a:spcAft>
            </a:pPr>
            <a:r>
              <a:rPr sz="1800">
                <a:solidFill>
                  <a:srgbClr val="7C6CFF"/>
                </a:solidFill>
                <a:latin typeface="Calibri"/>
              </a:rPr>
              <a:t>▸  </a:t>
            </a:r>
            <a:r>
              <a:rPr sz="1800" b="1">
                <a:solidFill>
                  <a:srgbClr val="22D3EE"/>
                </a:solidFill>
                <a:latin typeface="Calibri"/>
              </a:rPr>
              <a:t>RQ2</a:t>
            </a:r>
            <a:r>
              <a:rPr sz="1800" b="0">
                <a:solidFill>
                  <a:srgbClr val="E7ECF3"/>
                </a:solidFill>
                <a:latin typeface="Calibri"/>
              </a:rPr>
              <a:t> — can </a:t>
            </a:r>
            <a:r>
              <a:rPr sz="1800" b="1">
                <a:solidFill>
                  <a:srgbClr val="22D3EE"/>
                </a:solidFill>
                <a:latin typeface="Calibri"/>
              </a:rPr>
              <a:t>privacy nudges</a:t>
            </a:r>
            <a:r>
              <a:rPr sz="1800" b="0">
                <a:solidFill>
                  <a:srgbClr val="E7ECF3"/>
                </a:solidFill>
                <a:latin typeface="Calibri"/>
              </a:rPr>
              <a:t> make it work even better?</a:t>
            </a:r>
          </a:p>
          <a:p>
            <a:pPr>
              <a:spcBef>
                <a:spcPts val="0"/>
              </a:spcBef>
              <a:spcAft>
                <a:spcPts val="1200"/>
              </a:spcAft>
            </a:pPr>
            <a:r>
              <a:rPr sz="1800">
                <a:solidFill>
                  <a:srgbClr val="7C6CFF"/>
                </a:solidFill>
                <a:latin typeface="Calibri"/>
              </a:rPr>
              <a:t>▸  </a:t>
            </a:r>
            <a:r>
              <a:rPr sz="1800" b="0">
                <a:solidFill>
                  <a:srgbClr val="E7ECF3"/>
                </a:solidFill>
                <a:latin typeface="Calibri"/>
              </a:rPr>
              <a:t>A nudge is </a:t>
            </a:r>
            <a:r>
              <a:rPr sz="1800" b="1">
                <a:solidFill>
                  <a:srgbClr val="22D3EE"/>
                </a:solidFill>
                <a:latin typeface="Calibri"/>
              </a:rPr>
              <a:t>soft-paternalistic</a:t>
            </a:r>
            <a:r>
              <a:rPr sz="1800" b="0">
                <a:solidFill>
                  <a:srgbClr val="E7ECF3"/>
                </a:solidFill>
                <a:latin typeface="Calibri"/>
              </a:rPr>
              <a:t> — it guides, never forces. “Keep sharing” always stays.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3</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2–4 · Worldview, method, setting &amp; time</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10972800" cy="4572000"/>
          </a:xfrm>
          <a:prstGeom prst="rect">
            <a:avLst/>
          </a:prstGeom>
          <a:noFill/>
        </p:spPr>
        <p:txBody>
          <a:bodyPr wrap="square">
            <a:spAutoFit/>
          </a:bodyPr>
          <a:lstStyle/>
          <a:p>
            <a:pPr>
              <a:spcBef>
                <a:spcPts val="0"/>
              </a:spcBef>
              <a:spcAft>
                <a:spcPts val="1400"/>
              </a:spcAft>
            </a:pPr>
            <a:r>
              <a:rPr sz="1800">
                <a:solidFill>
                  <a:srgbClr val="7C6CFF"/>
                </a:solidFill>
                <a:latin typeface="Calibri"/>
              </a:rPr>
              <a:t>▸  </a:t>
            </a:r>
            <a:r>
              <a:rPr sz="1800" b="1">
                <a:solidFill>
                  <a:srgbClr val="22D3EE"/>
                </a:solidFill>
                <a:latin typeface="Calibri"/>
              </a:rPr>
              <a:t>Worldview:</a:t>
            </a:r>
            <a:r>
              <a:rPr sz="1800" b="0">
                <a:solidFill>
                  <a:srgbClr val="E7ECF3"/>
                </a:solidFill>
                <a:latin typeface="Calibri"/>
              </a:rPr>
              <a:t> mostly </a:t>
            </a:r>
            <a:r>
              <a:rPr sz="1800" b="1">
                <a:solidFill>
                  <a:srgbClr val="22D3EE"/>
                </a:solidFill>
                <a:latin typeface="Calibri"/>
              </a:rPr>
              <a:t>positivism</a:t>
            </a:r>
            <a:r>
              <a:rPr sz="1800" b="0">
                <a:solidFill>
                  <a:srgbClr val="E7ECF3"/>
                </a:solidFill>
                <a:latin typeface="Calibri"/>
              </a:rPr>
              <a:t> (count reviews, %, a regression) + an </a:t>
            </a:r>
            <a:r>
              <a:rPr sz="1800" b="1">
                <a:solidFill>
                  <a:srgbClr val="22D3EE"/>
                </a:solidFill>
                <a:latin typeface="Calibri"/>
              </a:rPr>
              <a:t>interpretivist</a:t>
            </a:r>
            <a:r>
              <a:rPr sz="1800" b="0">
                <a:solidFill>
                  <a:srgbClr val="E7ECF3"/>
                </a:solidFill>
                <a:latin typeface="Calibri"/>
              </a:rPr>
              <a:t> part (interviews for the *why*) → </a:t>
            </a:r>
            <a:r>
              <a:rPr sz="1800" b="1">
                <a:solidFill>
                  <a:srgbClr val="22D3EE"/>
                </a:solidFill>
                <a:latin typeface="Calibri"/>
              </a:rPr>
              <a:t>mixed methods, leaning positivist</a:t>
            </a:r>
          </a:p>
          <a:p>
            <a:pPr>
              <a:spcBef>
                <a:spcPts val="0"/>
              </a:spcBef>
              <a:spcAft>
                <a:spcPts val="1400"/>
              </a:spcAft>
            </a:pPr>
            <a:r>
              <a:rPr sz="1800">
                <a:solidFill>
                  <a:srgbClr val="7C6CFF"/>
                </a:solidFill>
                <a:latin typeface="Calibri"/>
              </a:rPr>
              <a:t>▸  </a:t>
            </a:r>
            <a:r>
              <a:rPr sz="1800" b="1">
                <a:solidFill>
                  <a:srgbClr val="22D3EE"/>
                </a:solidFill>
                <a:latin typeface="Calibri"/>
              </a:rPr>
              <a:t>Method:</a:t>
            </a:r>
            <a:r>
              <a:rPr sz="1800" b="0">
                <a:solidFill>
                  <a:srgbClr val="E7ECF3"/>
                </a:solidFill>
                <a:latin typeface="Calibri"/>
              </a:rPr>
              <a:t> a </a:t>
            </a:r>
            <a:r>
              <a:rPr sz="1800" b="1">
                <a:solidFill>
                  <a:srgbClr val="22D3EE"/>
                </a:solidFill>
                <a:latin typeface="Calibri"/>
              </a:rPr>
              <a:t>within-subjects quasi-experiment</a:t>
            </a:r>
            <a:r>
              <a:rPr sz="1800" b="0">
                <a:solidFill>
                  <a:srgbClr val="E7ECF3"/>
                </a:solidFill>
                <a:latin typeface="Calibri"/>
              </a:rPr>
              <a:t> — everyone does every condition, but </a:t>
            </a:r>
            <a:r>
              <a:rPr sz="1800" b="1">
                <a:solidFill>
                  <a:srgbClr val="22D3EE"/>
                </a:solidFill>
                <a:latin typeface="Calibri"/>
              </a:rPr>
              <a:t>no concurrent no-nudge control group</a:t>
            </a:r>
            <a:r>
              <a:rPr sz="1800" b="0">
                <a:solidFill>
                  <a:srgbClr val="E7ECF3"/>
                </a:solidFill>
                <a:latin typeface="Calibri"/>
              </a:rPr>
              <a:t>, so not a clean experiment</a:t>
            </a:r>
          </a:p>
          <a:p>
            <a:pPr>
              <a:spcBef>
                <a:spcPts val="0"/>
              </a:spcBef>
              <a:spcAft>
                <a:spcPts val="1400"/>
              </a:spcAft>
            </a:pPr>
            <a:r>
              <a:rPr sz="1800">
                <a:solidFill>
                  <a:srgbClr val="7C6CFF"/>
                </a:solidFill>
                <a:latin typeface="Calibri"/>
              </a:rPr>
              <a:t>▸  </a:t>
            </a:r>
            <a:r>
              <a:rPr sz="1800" b="1">
                <a:solidFill>
                  <a:srgbClr val="22D3EE"/>
                </a:solidFill>
                <a:latin typeface="Calibri"/>
              </a:rPr>
              <a:t>Setting:</a:t>
            </a:r>
            <a:r>
              <a:rPr sz="1800" b="0">
                <a:solidFill>
                  <a:srgbClr val="E7ECF3"/>
                </a:solidFill>
                <a:latin typeface="Calibri"/>
              </a:rPr>
              <a:t> a real-life </a:t>
            </a:r>
            <a:r>
              <a:rPr sz="1800" b="1">
                <a:solidFill>
                  <a:srgbClr val="22D3EE"/>
                </a:solidFill>
                <a:latin typeface="Calibri"/>
              </a:rPr>
              <a:t>field study</a:t>
            </a:r>
            <a:r>
              <a:rPr sz="1800" b="0">
                <a:solidFill>
                  <a:srgbClr val="E7ECF3"/>
                </a:solidFill>
                <a:latin typeface="Calibri"/>
              </a:rPr>
              <a:t> on people's own Android phones → far toward </a:t>
            </a:r>
            <a:r>
              <a:rPr sz="1800" b="1">
                <a:solidFill>
                  <a:srgbClr val="22D3EE"/>
                </a:solidFill>
                <a:latin typeface="Calibri"/>
              </a:rPr>
              <a:t>realism</a:t>
            </a:r>
            <a:r>
              <a:rPr sz="1800" b="0">
                <a:solidFill>
                  <a:srgbClr val="E7ECF3"/>
                </a:solidFill>
                <a:latin typeface="Calibri"/>
              </a:rPr>
              <a:t> → high </a:t>
            </a:r>
            <a:r>
              <a:rPr sz="1800" b="1">
                <a:solidFill>
                  <a:srgbClr val="22D3EE"/>
                </a:solidFill>
                <a:latin typeface="Calibri"/>
              </a:rPr>
              <a:t>ecological validity</a:t>
            </a:r>
          </a:p>
          <a:p>
            <a:pPr>
              <a:spcBef>
                <a:spcPts val="0"/>
              </a:spcBef>
              <a:spcAft>
                <a:spcPts val="1400"/>
              </a:spcAft>
            </a:pPr>
            <a:r>
              <a:rPr sz="1800">
                <a:solidFill>
                  <a:srgbClr val="7C6CFF"/>
                </a:solidFill>
                <a:latin typeface="Calibri"/>
              </a:rPr>
              <a:t>▸  </a:t>
            </a:r>
            <a:r>
              <a:rPr sz="1800" b="1">
                <a:solidFill>
                  <a:srgbClr val="22D3EE"/>
                </a:solidFill>
                <a:latin typeface="Calibri"/>
              </a:rPr>
              <a:t>Time:</a:t>
            </a:r>
            <a:r>
              <a:rPr sz="1800" b="0">
                <a:solidFill>
                  <a:srgbClr val="E7ECF3"/>
                </a:solidFill>
                <a:latin typeface="Calibri"/>
              </a:rPr>
              <a:t> </a:t>
            </a:r>
            <a:r>
              <a:rPr sz="1800" b="1">
                <a:solidFill>
                  <a:srgbClr val="22D3EE"/>
                </a:solidFill>
                <a:latin typeface="Calibri"/>
              </a:rPr>
              <a:t>longitudinal</a:t>
            </a:r>
            <a:r>
              <a:rPr sz="1800" b="0">
                <a:solidFill>
                  <a:srgbClr val="E7ECF3"/>
                </a:solidFill>
                <a:latin typeface="Calibri"/>
              </a:rPr>
              <a:t> — </a:t>
            </a:r>
            <a:r>
              <a:rPr sz="1800" b="1">
                <a:solidFill>
                  <a:srgbClr val="22D3EE"/>
                </a:solidFill>
                <a:latin typeface="Calibri"/>
              </a:rPr>
              <a:t>22 days</a:t>
            </a:r>
            <a:r>
              <a:rPr sz="1800" b="0">
                <a:solidFill>
                  <a:srgbClr val="E7ECF3"/>
                </a:solidFill>
                <a:latin typeface="Calibri"/>
              </a:rPr>
              <a:t> (far from a one-off)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4</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5 · Design — the three phases</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197864"/>
            <a:ext cx="10972800" cy="457200"/>
          </a:xfrm>
          <a:prstGeom prst="rect">
            <a:avLst/>
          </a:prstGeom>
          <a:noFill/>
        </p:spPr>
        <p:txBody>
          <a:bodyPr wrap="none">
            <a:spAutoFit/>
          </a:bodyPr>
          <a:lstStyle/>
          <a:p>
            <a:r>
              <a:rPr sz="1400" i="1">
                <a:solidFill>
                  <a:srgbClr val="778295"/>
                </a:solidFill>
                <a:latin typeface="Calibri"/>
              </a:rPr>
              <a:t>IV = phase (3 levels) · within-subjects</a:t>
            </a:r>
          </a:p>
        </p:txBody>
      </p:sp>
      <p:sp>
        <p:nvSpPr>
          <p:cNvPr id="8" name="Rounded Rectangle 7"/>
          <p:cNvSpPr/>
          <p:nvPr/>
        </p:nvSpPr>
        <p:spPr>
          <a:xfrm>
            <a:off x="640080" y="1691640"/>
            <a:ext cx="3566160" cy="1371600"/>
          </a:xfrm>
          <a:prstGeom prst="roundRect">
            <a:avLst/>
          </a:prstGeom>
          <a:solidFill>
            <a:srgbClr val="1E2533"/>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500" b="1">
                <a:solidFill>
                  <a:srgbClr val="E7ECF3"/>
                </a:solidFill>
                <a:latin typeface="Calibri"/>
              </a:rPr>
              <a:t>Phase 1
Baseline</a:t>
            </a:r>
          </a:p>
          <a:p>
            <a:r>
              <a:rPr sz="1100">
                <a:solidFill>
                  <a:srgbClr val="B6BFCF"/>
                </a:solidFill>
                <a:latin typeface="Calibri"/>
              </a:rPr>
              <a:t>7 days · silent logging</a:t>
            </a:r>
          </a:p>
        </p:txBody>
      </p:sp>
      <p:sp>
        <p:nvSpPr>
          <p:cNvPr id="9" name="Rounded Rectangle 8"/>
          <p:cNvSpPr/>
          <p:nvPr/>
        </p:nvSpPr>
        <p:spPr>
          <a:xfrm>
            <a:off x="4389120" y="1691640"/>
            <a:ext cx="3566160" cy="1371600"/>
          </a:xfrm>
          <a:prstGeom prst="roundRect">
            <a:avLst/>
          </a:prstGeom>
          <a:solidFill>
            <a:srgbClr val="1E2533"/>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500" b="1">
                <a:solidFill>
                  <a:srgbClr val="E7ECF3"/>
                </a:solidFill>
                <a:latin typeface="Calibri"/>
              </a:rPr>
              <a:t>Phase 2
AppOps manager</a:t>
            </a:r>
          </a:p>
          <a:p>
            <a:r>
              <a:rPr sz="1100">
                <a:solidFill>
                  <a:srgbClr val="B6BFCF"/>
                </a:solidFill>
                <a:latin typeface="Calibri"/>
              </a:rPr>
              <a:t>7 days · limit each app+permission</a:t>
            </a:r>
          </a:p>
        </p:txBody>
      </p:sp>
      <p:sp>
        <p:nvSpPr>
          <p:cNvPr id="10" name="Rounded Rectangle 9"/>
          <p:cNvSpPr/>
          <p:nvPr/>
        </p:nvSpPr>
        <p:spPr>
          <a:xfrm>
            <a:off x="8138159" y="1691640"/>
            <a:ext cx="3566160" cy="1371600"/>
          </a:xfrm>
          <a:prstGeom prst="round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500" b="1">
                <a:solidFill>
                  <a:srgbClr val="0E1116"/>
                </a:solidFill>
                <a:latin typeface="Calibri"/>
              </a:rPr>
              <a:t>Phase 3
Manager + 1 nudge/day</a:t>
            </a:r>
          </a:p>
          <a:p>
            <a:r>
              <a:rPr sz="1100">
                <a:solidFill>
                  <a:srgbClr val="0E1116"/>
                </a:solidFill>
                <a:latin typeface="Calibri"/>
              </a:rPr>
              <a:t>8 days · personalised nudge</a:t>
            </a:r>
          </a:p>
        </p:txBody>
      </p:sp>
      <p:sp>
        <p:nvSpPr>
          <p:cNvPr id="11" name="TextBox 10"/>
          <p:cNvSpPr txBox="1"/>
          <p:nvPr/>
        </p:nvSpPr>
        <p:spPr>
          <a:xfrm>
            <a:off x="640080" y="3291840"/>
            <a:ext cx="10972800" cy="4572000"/>
          </a:xfrm>
          <a:prstGeom prst="rect">
            <a:avLst/>
          </a:prstGeom>
          <a:noFill/>
        </p:spPr>
        <p:txBody>
          <a:bodyPr wrap="square">
            <a:spAutoFit/>
          </a:bodyPr>
          <a:lstStyle/>
          <a:p>
            <a:pPr>
              <a:spcBef>
                <a:spcPts val="0"/>
              </a:spcBef>
              <a:spcAft>
                <a:spcPts val="1100"/>
              </a:spcAft>
            </a:pPr>
            <a:r>
              <a:rPr sz="1700">
                <a:solidFill>
                  <a:srgbClr val="7C6CFF"/>
                </a:solidFill>
                <a:latin typeface="Calibri"/>
              </a:rPr>
              <a:t>▸  </a:t>
            </a:r>
            <a:r>
              <a:rPr sz="1700" b="0">
                <a:solidFill>
                  <a:srgbClr val="E7ECF3"/>
                </a:solidFill>
                <a:latin typeface="Calibri"/>
              </a:rPr>
              <a:t>The </a:t>
            </a:r>
            <a:r>
              <a:rPr sz="1700" b="1">
                <a:solidFill>
                  <a:srgbClr val="22D3EE"/>
                </a:solidFill>
                <a:latin typeface="Calibri"/>
              </a:rPr>
              <a:t>nudge</a:t>
            </a:r>
            <a:r>
              <a:rPr sz="1700" b="0">
                <a:solidFill>
                  <a:srgbClr val="E7ECF3"/>
                </a:solidFill>
                <a:latin typeface="Calibri"/>
              </a:rPr>
              <a:t> = personalised full-screen card from each user's own logs: “your location has been shared </a:t>
            </a:r>
            <a:r>
              <a:rPr sz="1700" b="1">
                <a:solidFill>
                  <a:srgbClr val="22D3EE"/>
                </a:solidFill>
                <a:latin typeface="Calibri"/>
              </a:rPr>
              <a:t>5,398 times</a:t>
            </a:r>
            <a:r>
              <a:rPr sz="1700" b="0">
                <a:solidFill>
                  <a:srgbClr val="E7ECF3"/>
                </a:solidFill>
                <a:latin typeface="Calibri"/>
              </a:rPr>
              <a:t>”</a:t>
            </a:r>
          </a:p>
          <a:p>
            <a:pPr>
              <a:spcBef>
                <a:spcPts val="0"/>
              </a:spcBef>
              <a:spcAft>
                <a:spcPts val="1100"/>
              </a:spcAft>
            </a:pPr>
            <a:r>
              <a:rPr sz="1700">
                <a:solidFill>
                  <a:srgbClr val="7C6CFF"/>
                </a:solidFill>
                <a:latin typeface="Calibri"/>
              </a:rPr>
              <a:t>▸  </a:t>
            </a:r>
            <a:r>
              <a:rPr sz="1700" b="0">
                <a:solidFill>
                  <a:srgbClr val="E7ECF3"/>
                </a:solidFill>
                <a:latin typeface="Calibri"/>
              </a:rPr>
              <a:t>Three options = </a:t>
            </a:r>
            <a:r>
              <a:rPr sz="1700" b="1">
                <a:solidFill>
                  <a:srgbClr val="22D3EE"/>
                </a:solidFill>
                <a:latin typeface="Calibri"/>
              </a:rPr>
              <a:t>enhanced active choice</a:t>
            </a:r>
            <a:r>
              <a:rPr sz="1700" b="0">
                <a:solidFill>
                  <a:srgbClr val="E7ECF3"/>
                </a:solidFill>
                <a:latin typeface="Calibri"/>
              </a:rPr>
              <a:t>: change settings · show me more · keep sharing</a:t>
            </a:r>
          </a:p>
          <a:p>
            <a:pPr>
              <a:spcBef>
                <a:spcPts val="0"/>
              </a:spcBef>
              <a:spcAft>
                <a:spcPts val="1100"/>
              </a:spcAft>
            </a:pPr>
            <a:r>
              <a:rPr sz="1700">
                <a:solidFill>
                  <a:srgbClr val="7C6CFF"/>
                </a:solidFill>
                <a:latin typeface="Calibri"/>
              </a:rPr>
              <a:t>▸  </a:t>
            </a:r>
            <a:r>
              <a:rPr sz="1700" b="1">
                <a:solidFill>
                  <a:srgbClr val="22D3EE"/>
                </a:solidFill>
                <a:latin typeface="Calibri"/>
              </a:rPr>
              <a:t>Randomised nudge-type order</a:t>
            </a:r>
            <a:r>
              <a:rPr sz="1700" b="0">
                <a:solidFill>
                  <a:srgbClr val="E7ECF3"/>
                </a:solidFill>
                <a:latin typeface="Calibri"/>
              </a:rPr>
              <a:t> to cut </a:t>
            </a:r>
            <a:r>
              <a:rPr sz="1700" b="1">
                <a:solidFill>
                  <a:srgbClr val="22D3EE"/>
                </a:solidFill>
                <a:latin typeface="Calibri"/>
              </a:rPr>
              <a:t>order effects</a:t>
            </a:r>
            <a:r>
              <a:rPr sz="1700" b="0">
                <a:solidFill>
                  <a:srgbClr val="E7ECF3"/>
                </a:solidFill>
                <a:latin typeface="Calibri"/>
              </a:rPr>
              <a:t> — but </a:t>
            </a:r>
            <a:r>
              <a:rPr sz="1700" b="1">
                <a:solidFill>
                  <a:srgbClr val="22D3EE"/>
                </a:solidFill>
                <a:latin typeface="Calibri"/>
              </a:rPr>
              <a:t>phase order is fixed → not full counterbalancing</a:t>
            </a:r>
          </a:p>
          <a:p>
            <a:pPr>
              <a:spcBef>
                <a:spcPts val="0"/>
              </a:spcBef>
              <a:spcAft>
                <a:spcPts val="1100"/>
              </a:spcAft>
            </a:pPr>
            <a:r>
              <a:rPr sz="1700">
                <a:solidFill>
                  <a:srgbClr val="7C6CFF"/>
                </a:solidFill>
                <a:latin typeface="Calibri"/>
              </a:rPr>
              <a:t>▸  </a:t>
            </a:r>
            <a:r>
              <a:rPr sz="1700" b="1">
                <a:solidFill>
                  <a:srgbClr val="22D3EE"/>
                </a:solidFill>
                <a:latin typeface="Calibri"/>
              </a:rPr>
              <a:t>DVs:</a:t>
            </a:r>
            <a:r>
              <a:rPr sz="1700" b="0">
                <a:solidFill>
                  <a:srgbClr val="E7ECF3"/>
                </a:solidFill>
                <a:latin typeface="Calibri"/>
              </a:rPr>
              <a:t> *reviewing* (opening AppOps) and *adjusting* (limit / allow)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5</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6–7 · Participants &amp; procedure</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10972800" cy="4572000"/>
          </a:xfrm>
          <a:prstGeom prst="rect">
            <a:avLst/>
          </a:prstGeom>
          <a:noFill/>
        </p:spPr>
        <p:txBody>
          <a:bodyPr wrap="square">
            <a:spAutoFit/>
          </a:bodyPr>
          <a:lstStyle/>
          <a:p>
            <a:pPr>
              <a:spcBef>
                <a:spcPts val="0"/>
              </a:spcBef>
              <a:spcAft>
                <a:spcPts val="1400"/>
              </a:spcAft>
            </a:pPr>
            <a:r>
              <a:rPr sz="1800">
                <a:solidFill>
                  <a:srgbClr val="7C6CFF"/>
                </a:solidFill>
                <a:latin typeface="Calibri"/>
              </a:rPr>
              <a:t>▸  </a:t>
            </a:r>
            <a:r>
              <a:rPr sz="1800" b="1">
                <a:solidFill>
                  <a:srgbClr val="22D3EE"/>
                </a:solidFill>
                <a:latin typeface="Calibri"/>
              </a:rPr>
              <a:t>N = 23</a:t>
            </a:r>
            <a:r>
              <a:rPr sz="1800" b="0">
                <a:solidFill>
                  <a:srgbClr val="E7ECF3"/>
                </a:solidFill>
                <a:latin typeface="Calibri"/>
              </a:rPr>
              <a:t> · 65% female · median age </a:t>
            </a:r>
            <a:r>
              <a:rPr sz="1800" b="1">
                <a:solidFill>
                  <a:srgbClr val="22D3EE"/>
                </a:solidFill>
                <a:latin typeface="Calibri"/>
              </a:rPr>
              <a:t>23</a:t>
            </a:r>
            <a:r>
              <a:rPr sz="1800" b="0">
                <a:solidFill>
                  <a:srgbClr val="E7ECF3"/>
                </a:solidFill>
                <a:latin typeface="Calibri"/>
              </a:rPr>
              <a:t> · recruited locally (Craigslist + university pool), in person</a:t>
            </a:r>
          </a:p>
          <a:p>
            <a:pPr>
              <a:spcBef>
                <a:spcPts val="0"/>
              </a:spcBef>
              <a:spcAft>
                <a:spcPts val="1400"/>
              </a:spcAft>
            </a:pPr>
            <a:r>
              <a:rPr sz="1800">
                <a:solidFill>
                  <a:srgbClr val="7C6CFF"/>
                </a:solidFill>
                <a:latin typeface="Calibri"/>
              </a:rPr>
              <a:t>▸  </a:t>
            </a:r>
            <a:r>
              <a:rPr sz="1800" b="0">
                <a:solidFill>
                  <a:srgbClr val="E7ECF3"/>
                </a:solidFill>
                <a:latin typeface="Calibri"/>
              </a:rPr>
              <a:t>Needed a narrow </a:t>
            </a:r>
            <a:r>
              <a:rPr sz="1800" b="1">
                <a:solidFill>
                  <a:srgbClr val="22D3EE"/>
                </a:solidFill>
                <a:latin typeface="Calibri"/>
              </a:rPr>
              <a:t>Android 4.3–4.4.1</a:t>
            </a:r>
            <a:r>
              <a:rPr sz="1800" b="0">
                <a:solidFill>
                  <a:srgbClr val="E7ECF3"/>
                </a:solidFill>
                <a:latin typeface="Calibri"/>
              </a:rPr>
              <a:t> (for AppOps) and had to promise </a:t>
            </a:r>
            <a:r>
              <a:rPr sz="1800" b="1">
                <a:solidFill>
                  <a:srgbClr val="22D3EE"/>
                </a:solidFill>
                <a:latin typeface="Calibri"/>
              </a:rPr>
              <a:t>not to update</a:t>
            </a:r>
            <a:r>
              <a:rPr sz="1800" b="0">
                <a:solidFill>
                  <a:srgbClr val="E7ECF3"/>
                </a:solidFill>
                <a:latin typeface="Calibri"/>
              </a:rPr>
              <a:t> — </a:t>
            </a:r>
            <a:r>
              <a:rPr sz="1800" b="1">
                <a:solidFill>
                  <a:srgbClr val="22D3EE"/>
                </a:solidFill>
                <a:latin typeface="Calibri"/>
              </a:rPr>
              <a:t>3 removed</a:t>
            </a:r>
            <a:r>
              <a:rPr sz="1800" b="0">
                <a:solidFill>
                  <a:srgbClr val="E7ECF3"/>
                </a:solidFill>
                <a:latin typeface="Calibri"/>
              </a:rPr>
              <a:t> for upgrading</a:t>
            </a:r>
          </a:p>
          <a:p>
            <a:pPr>
              <a:spcBef>
                <a:spcPts val="0"/>
              </a:spcBef>
              <a:spcAft>
                <a:spcPts val="1400"/>
              </a:spcAft>
            </a:pPr>
            <a:r>
              <a:rPr sz="1800">
                <a:solidFill>
                  <a:srgbClr val="7C6CFF"/>
                </a:solidFill>
                <a:latin typeface="Calibri"/>
              </a:rPr>
              <a:t>▸  </a:t>
            </a:r>
            <a:r>
              <a:rPr sz="1800" b="1">
                <a:solidFill>
                  <a:srgbClr val="22D3EE"/>
                </a:solidFill>
                <a:latin typeface="Calibri"/>
              </a:rPr>
              <a:t>Procedure (in phase order):</a:t>
            </a:r>
            <a:r>
              <a:rPr sz="1800" b="0">
                <a:solidFill>
                  <a:srgbClr val="E7ECF3"/>
                </a:solidFill>
                <a:latin typeface="Calibri"/>
              </a:rPr>
              <a:t> consent + entry survey → 7 silent baseline days → 7 days AppOps available → 8 days with 1 nudge/day → exit survey + interviews</a:t>
            </a:r>
          </a:p>
          <a:p>
            <a:pPr>
              <a:spcBef>
                <a:spcPts val="0"/>
              </a:spcBef>
              <a:spcAft>
                <a:spcPts val="1400"/>
              </a:spcAft>
            </a:pPr>
            <a:r>
              <a:rPr sz="1800">
                <a:solidFill>
                  <a:srgbClr val="7C6CFF"/>
                </a:solidFill>
                <a:latin typeface="Calibri"/>
              </a:rPr>
              <a:t>▸  </a:t>
            </a:r>
            <a:r>
              <a:rPr sz="1800" b="0">
                <a:solidFill>
                  <a:srgbClr val="E7ECF3"/>
                </a:solidFill>
                <a:latin typeface="Calibri"/>
              </a:rPr>
              <a:t>System </a:t>
            </a:r>
            <a:r>
              <a:rPr sz="1800" b="1">
                <a:solidFill>
                  <a:srgbClr val="22D3EE"/>
                </a:solidFill>
                <a:latin typeface="Calibri"/>
              </a:rPr>
              <a:t>sampled AppOps state every 5 minutes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6</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8–9 · Data, analysis &amp; findings</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972800" cy="4572000"/>
          </a:xfrm>
          <a:prstGeom prst="rect">
            <a:avLst/>
          </a:prstGeom>
          <a:noFill/>
        </p:spPr>
        <p:txBody>
          <a:bodyPr wrap="square">
            <a:spAutoFit/>
          </a:bodyPr>
          <a:lstStyle/>
          <a:p>
            <a:pPr>
              <a:spcBef>
                <a:spcPts val="0"/>
              </a:spcBef>
              <a:spcAft>
                <a:spcPts val="800"/>
              </a:spcAft>
            </a:pPr>
            <a:r>
              <a:rPr sz="1500">
                <a:solidFill>
                  <a:srgbClr val="7C6CFF"/>
                </a:solidFill>
                <a:latin typeface="Calibri"/>
              </a:rPr>
              <a:t>▸  </a:t>
            </a:r>
            <a:r>
              <a:rPr sz="1500" b="1">
                <a:solidFill>
                  <a:srgbClr val="22D3EE"/>
                </a:solidFill>
                <a:latin typeface="Calibri"/>
              </a:rPr>
              <a:t>Data spine = observed, behavioral</a:t>
            </a:r>
            <a:r>
              <a:rPr sz="1500" b="0">
                <a:solidFill>
                  <a:srgbClr val="E7ECF3"/>
                </a:solidFill>
                <a:latin typeface="Calibri"/>
              </a:rPr>
              <a:t> logs (what people *did*) + </a:t>
            </a:r>
            <a:r>
              <a:rPr sz="1500" b="1">
                <a:solidFill>
                  <a:srgbClr val="22D3EE"/>
                </a:solidFill>
                <a:latin typeface="Calibri"/>
              </a:rPr>
              <a:t>self-reported, attitudinal</a:t>
            </a:r>
            <a:r>
              <a:rPr sz="1500" b="0">
                <a:solidFill>
                  <a:srgbClr val="E7ECF3"/>
                </a:solidFill>
                <a:latin typeface="Calibri"/>
              </a:rPr>
              <a:t> Likert comfort &amp; </a:t>
            </a:r>
            <a:r>
              <a:rPr sz="1500" b="1">
                <a:solidFill>
                  <a:srgbClr val="22D3EE"/>
                </a:solidFill>
                <a:latin typeface="Calibri"/>
              </a:rPr>
              <a:t>8 interviews</a:t>
            </a:r>
            <a:r>
              <a:rPr sz="1500" b="0">
                <a:solidFill>
                  <a:srgbClr val="E7ECF3"/>
                </a:solidFill>
                <a:latin typeface="Calibri"/>
              </a:rPr>
              <a:t> for the *why*</a:t>
            </a:r>
          </a:p>
          <a:p>
            <a:pPr>
              <a:spcBef>
                <a:spcPts val="0"/>
              </a:spcBef>
              <a:spcAft>
                <a:spcPts val="800"/>
              </a:spcAft>
            </a:pPr>
            <a:r>
              <a:rPr sz="1500">
                <a:solidFill>
                  <a:srgbClr val="7C6CFF"/>
                </a:solidFill>
                <a:latin typeface="Calibri"/>
              </a:rPr>
              <a:t>▸  </a:t>
            </a:r>
            <a:r>
              <a:rPr sz="1500" b="0">
                <a:solidFill>
                  <a:srgbClr val="E7ECF3"/>
                </a:solidFill>
                <a:latin typeface="Calibri"/>
              </a:rPr>
              <a:t>Fixed rules: </a:t>
            </a:r>
            <a:r>
              <a:rPr sz="1500" b="1">
                <a:solidFill>
                  <a:srgbClr val="22D3EE"/>
                </a:solidFill>
                <a:latin typeface="Calibri"/>
              </a:rPr>
              <a:t>behavioral ⇒ observed</a:t>
            </a:r>
            <a:r>
              <a:rPr sz="1500" b="0">
                <a:solidFill>
                  <a:srgbClr val="E7ECF3"/>
                </a:solidFill>
                <a:latin typeface="Calibri"/>
              </a:rPr>
              <a:t> · </a:t>
            </a:r>
            <a:r>
              <a:rPr sz="1500" b="1">
                <a:solidFill>
                  <a:srgbClr val="22D3EE"/>
                </a:solidFill>
                <a:latin typeface="Calibri"/>
              </a:rPr>
              <a:t>attitudinal ⇒ self-reported</a:t>
            </a:r>
          </a:p>
          <a:p>
            <a:pPr>
              <a:spcBef>
                <a:spcPts val="0"/>
              </a:spcBef>
              <a:spcAft>
                <a:spcPts val="800"/>
              </a:spcAft>
            </a:pPr>
            <a:r>
              <a:rPr sz="1500">
                <a:solidFill>
                  <a:srgbClr val="7C6CFF"/>
                </a:solidFill>
                <a:latin typeface="Calibri"/>
              </a:rPr>
              <a:t>▸  </a:t>
            </a:r>
            <a:r>
              <a:rPr sz="1500" b="0">
                <a:solidFill>
                  <a:srgbClr val="E7ECF3"/>
                </a:solidFill>
                <a:latin typeface="Calibri"/>
              </a:rPr>
              <a:t>Nudge taps: </a:t>
            </a:r>
            <a:r>
              <a:rPr sz="1500" b="1">
                <a:solidFill>
                  <a:srgbClr val="22D3EE"/>
                </a:solidFill>
                <a:latin typeface="Calibri"/>
              </a:rPr>
              <a:t>42% change · 25% keep · 33% ignored</a:t>
            </a:r>
          </a:p>
          <a:p>
            <a:pPr>
              <a:spcBef>
                <a:spcPts val="0"/>
              </a:spcBef>
              <a:spcAft>
                <a:spcPts val="800"/>
              </a:spcAft>
            </a:pPr>
            <a:r>
              <a:rPr sz="1500">
                <a:solidFill>
                  <a:srgbClr val="7C6CFF"/>
                </a:solidFill>
                <a:latin typeface="Calibri"/>
              </a:rPr>
              <a:t>▸  </a:t>
            </a:r>
            <a:r>
              <a:rPr sz="1500" b="1">
                <a:solidFill>
                  <a:srgbClr val="22D3EE"/>
                </a:solidFill>
                <a:latin typeface="Calibri"/>
              </a:rPr>
              <a:t>Analysis:</a:t>
            </a:r>
            <a:r>
              <a:rPr sz="1500" b="0">
                <a:solidFill>
                  <a:srgbClr val="E7ECF3"/>
                </a:solidFill>
                <a:latin typeface="Calibri"/>
              </a:rPr>
              <a:t> counts &amp; % + one </a:t>
            </a:r>
            <a:r>
              <a:rPr sz="1500" b="1">
                <a:solidFill>
                  <a:srgbClr val="22D3EE"/>
                </a:solidFill>
                <a:latin typeface="Calibri"/>
              </a:rPr>
              <a:t>random-effects regression</a:t>
            </a:r>
            <a:r>
              <a:rPr sz="1500" b="0">
                <a:solidFill>
                  <a:srgbClr val="E7ECF3"/>
                </a:solidFill>
                <a:latin typeface="Calibri"/>
              </a:rPr>
              <a:t>; qualitative = </a:t>
            </a:r>
            <a:r>
              <a:rPr sz="1500" b="1">
                <a:solidFill>
                  <a:srgbClr val="22D3EE"/>
                </a:solidFill>
                <a:latin typeface="Calibri"/>
              </a:rPr>
              <a:t>thematic analysis</a:t>
            </a:r>
          </a:p>
          <a:p>
            <a:pPr>
              <a:spcBef>
                <a:spcPts val="0"/>
              </a:spcBef>
              <a:spcAft>
                <a:spcPts val="800"/>
              </a:spcAft>
            </a:pPr>
            <a:r>
              <a:rPr sz="1500">
                <a:solidFill>
                  <a:srgbClr val="7C6CFF"/>
                </a:solidFill>
                <a:latin typeface="Calibri"/>
              </a:rPr>
              <a:t>▸  </a:t>
            </a:r>
            <a:r>
              <a:rPr sz="1500" b="1">
                <a:solidFill>
                  <a:srgbClr val="22D3EE"/>
                </a:solidFill>
                <a:latin typeface="Calibri"/>
              </a:rPr>
              <a:t>Findings (1)</a:t>
            </a:r>
            <a:r>
              <a:rPr sz="1500" b="0">
                <a:solidFill>
                  <a:srgbClr val="E7ECF3"/>
                </a:solidFill>
                <a:latin typeface="Calibri"/>
              </a:rPr>
              <a:t> manager alone works — </a:t>
            </a:r>
            <a:r>
              <a:rPr sz="1500" b="1">
                <a:solidFill>
                  <a:srgbClr val="22D3EE"/>
                </a:solidFill>
                <a:latin typeface="Calibri"/>
              </a:rPr>
              <a:t>22/23</a:t>
            </a:r>
            <a:r>
              <a:rPr sz="1500" b="0">
                <a:solidFill>
                  <a:srgbClr val="E7ECF3"/>
                </a:solidFill>
                <a:latin typeface="Calibri"/>
              </a:rPr>
              <a:t> checked, </a:t>
            </a:r>
            <a:r>
              <a:rPr sz="1500" b="1">
                <a:solidFill>
                  <a:srgbClr val="22D3EE"/>
                </a:solidFill>
                <a:latin typeface="Calibri"/>
              </a:rPr>
              <a:t>65%</a:t>
            </a:r>
            <a:r>
              <a:rPr sz="1500" b="0">
                <a:solidFill>
                  <a:srgbClr val="E7ECF3"/>
                </a:solidFill>
                <a:latin typeface="Calibri"/>
              </a:rPr>
              <a:t> changed    </a:t>
            </a:r>
            <a:r>
              <a:rPr sz="1500" b="1">
                <a:solidFill>
                  <a:srgbClr val="22D3EE"/>
                </a:solidFill>
                <a:latin typeface="Calibri"/>
              </a:rPr>
              <a:t>(2)</a:t>
            </a:r>
            <a:r>
              <a:rPr sz="1500" b="0">
                <a:solidFill>
                  <a:srgbClr val="E7ECF3"/>
                </a:solidFill>
                <a:latin typeface="Calibri"/>
              </a:rPr>
              <a:t> nudges add value — </a:t>
            </a:r>
            <a:r>
              <a:rPr sz="1500" b="1">
                <a:solidFill>
                  <a:srgbClr val="22D3EE"/>
                </a:solidFill>
                <a:latin typeface="Calibri"/>
              </a:rPr>
              <a:t>95%</a:t>
            </a:r>
            <a:r>
              <a:rPr sz="1500" b="0">
                <a:solidFill>
                  <a:srgbClr val="E7ECF3"/>
                </a:solidFill>
                <a:latin typeface="Calibri"/>
              </a:rPr>
              <a:t> re-checked, </a:t>
            </a:r>
            <a:r>
              <a:rPr sz="1500" b="1">
                <a:solidFill>
                  <a:srgbClr val="22D3EE"/>
                </a:solidFill>
                <a:latin typeface="Calibri"/>
              </a:rPr>
              <a:t>58%</a:t>
            </a:r>
            <a:r>
              <a:rPr sz="1500" b="0">
                <a:solidFill>
                  <a:srgbClr val="E7ECF3"/>
                </a:solidFill>
                <a:latin typeface="Calibri"/>
              </a:rPr>
              <a:t> limited *more*</a:t>
            </a:r>
          </a:p>
          <a:p>
            <a:pPr>
              <a:spcBef>
                <a:spcPts val="0"/>
              </a:spcBef>
              <a:spcAft>
                <a:spcPts val="800"/>
              </a:spcAft>
            </a:pPr>
            <a:r>
              <a:rPr sz="1500">
                <a:solidFill>
                  <a:srgbClr val="7C6CFF"/>
                </a:solidFill>
                <a:latin typeface="Calibri"/>
              </a:rPr>
              <a:t>▸  </a:t>
            </a:r>
            <a:r>
              <a:rPr sz="1500" b="1">
                <a:solidFill>
                  <a:srgbClr val="22D3EE"/>
                </a:solidFill>
                <a:latin typeface="Calibri"/>
              </a:rPr>
              <a:t>(3) Access frequency</a:t>
            </a:r>
            <a:r>
              <a:rPr sz="1500" b="0">
                <a:solidFill>
                  <a:srgbClr val="E7ECF3"/>
                </a:solidFill>
                <a:latin typeface="Calibri"/>
              </a:rPr>
              <a:t> was the magic — regression linked frequency → choosing to change</a:t>
            </a:r>
          </a:p>
        </p:txBody>
      </p:sp>
      <p:sp>
        <p:nvSpPr>
          <p:cNvPr id="8" name="Rounded Rectangle 7"/>
          <p:cNvSpPr/>
          <p:nvPr/>
        </p:nvSpPr>
        <p:spPr>
          <a:xfrm>
            <a:off x="640080" y="5029200"/>
            <a:ext cx="10881360" cy="114300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r>
              <a:rPr sz="1600" i="1">
                <a:solidFill>
                  <a:srgbClr val="E7ECF3"/>
                </a:solidFill>
                <a:latin typeface="Calibri"/>
              </a:rPr>
              <a:t>“4,182 times… it felt like I'm being followed by my own phone. It was scary.”</a:t>
            </a:r>
          </a:p>
          <a:p>
            <a:r>
              <a:rPr sz="1100">
                <a:solidFill>
                  <a:srgbClr val="22D3EE"/>
                </a:solidFill>
                <a:latin typeface="Calibri"/>
              </a:rPr>
              <a:t>— P10  ·  phone-as-extension-of-self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7</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Design implications + contribution type</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10972800" cy="4572000"/>
          </a:xfrm>
          <a:prstGeom prst="rect">
            <a:avLst/>
          </a:prstGeom>
          <a:noFill/>
        </p:spPr>
        <p:txBody>
          <a:bodyPr wrap="square">
            <a:spAutoFit/>
          </a:bodyPr>
          <a:lstStyle/>
          <a:p>
            <a:pPr>
              <a:spcBef>
                <a:spcPts val="0"/>
              </a:spcBef>
              <a:spcAft>
                <a:spcPts val="1300"/>
              </a:spcAft>
            </a:pPr>
            <a:r>
              <a:rPr sz="1800">
                <a:solidFill>
                  <a:srgbClr val="7C6CFF"/>
                </a:solidFill>
                <a:latin typeface="Calibri"/>
              </a:rPr>
              <a:t>▸  </a:t>
            </a:r>
            <a:r>
              <a:rPr sz="1800" b="1">
                <a:solidFill>
                  <a:srgbClr val="22D3EE"/>
                </a:solidFill>
                <a:latin typeface="Calibri"/>
              </a:rPr>
              <a:t>Personalise</a:t>
            </a:r>
            <a:r>
              <a:rPr sz="1800" b="0">
                <a:solidFill>
                  <a:srgbClr val="E7ECF3"/>
                </a:solidFill>
                <a:latin typeface="Calibri"/>
              </a:rPr>
              <a:t> — stop nudging about apps the user already accepted</a:t>
            </a:r>
          </a:p>
          <a:p>
            <a:pPr>
              <a:spcBef>
                <a:spcPts val="0"/>
              </a:spcBef>
              <a:spcAft>
                <a:spcPts val="1300"/>
              </a:spcAft>
            </a:pPr>
            <a:r>
              <a:rPr sz="1800">
                <a:solidFill>
                  <a:srgbClr val="7C6CFF"/>
                </a:solidFill>
                <a:latin typeface="Calibri"/>
              </a:rPr>
              <a:t>▸  </a:t>
            </a:r>
            <a:r>
              <a:rPr sz="1800" b="0">
                <a:solidFill>
                  <a:srgbClr val="E7ECF3"/>
                </a:solidFill>
                <a:latin typeface="Calibri"/>
              </a:rPr>
              <a:t>Make it </a:t>
            </a:r>
            <a:r>
              <a:rPr sz="1800" b="1">
                <a:solidFill>
                  <a:srgbClr val="22D3EE"/>
                </a:solidFill>
                <a:latin typeface="Calibri"/>
              </a:rPr>
              <a:t>“salient, sticky, but not annoying”</a:t>
            </a:r>
          </a:p>
          <a:p>
            <a:pPr>
              <a:spcBef>
                <a:spcPts val="0"/>
              </a:spcBef>
              <a:spcAft>
                <a:spcPts val="1300"/>
              </a:spcAft>
            </a:pPr>
            <a:r>
              <a:rPr sz="1800">
                <a:solidFill>
                  <a:srgbClr val="7C6CFF"/>
                </a:solidFill>
                <a:latin typeface="Calibri"/>
              </a:rPr>
              <a:t>▸  </a:t>
            </a:r>
            <a:r>
              <a:rPr sz="1800" b="0">
                <a:solidFill>
                  <a:srgbClr val="E7ECF3"/>
                </a:solidFill>
                <a:latin typeface="Calibri"/>
              </a:rPr>
              <a:t>Main job = </a:t>
            </a:r>
            <a:r>
              <a:rPr sz="1800" b="1">
                <a:solidFill>
                  <a:srgbClr val="22D3EE"/>
                </a:solidFill>
                <a:latin typeface="Calibri"/>
              </a:rPr>
              <a:t>feedback / visibility of system status</a:t>
            </a:r>
            <a:r>
              <a:rPr sz="1800" b="0">
                <a:solidFill>
                  <a:srgbClr val="E7ECF3"/>
                </a:solidFill>
                <a:latin typeface="Calibri"/>
              </a:rPr>
              <a:t> (Nielsen #1) — makes invisible background access visible</a:t>
            </a:r>
          </a:p>
          <a:p>
            <a:pPr>
              <a:spcBef>
                <a:spcPts val="0"/>
              </a:spcBef>
              <a:spcAft>
                <a:spcPts val="1300"/>
              </a:spcAft>
            </a:pPr>
            <a:r>
              <a:rPr sz="1800">
                <a:solidFill>
                  <a:srgbClr val="7C6CFF"/>
                </a:solidFill>
                <a:latin typeface="Calibri"/>
              </a:rPr>
              <a:t>▸  </a:t>
            </a:r>
            <a:r>
              <a:rPr sz="1800" b="0">
                <a:solidFill>
                  <a:srgbClr val="E7ECF3"/>
                </a:solidFill>
                <a:latin typeface="Calibri"/>
              </a:rPr>
              <a:t>Fixes a </a:t>
            </a:r>
            <a:r>
              <a:rPr sz="1800" b="1">
                <a:solidFill>
                  <a:srgbClr val="22D3EE"/>
                </a:solidFill>
                <a:latin typeface="Calibri"/>
              </a:rPr>
              <a:t>discoverability</a:t>
            </a:r>
            <a:r>
              <a:rPr sz="1800" b="0">
                <a:solidFill>
                  <a:srgbClr val="E7ECF3"/>
                </a:solidFill>
                <a:latin typeface="Calibri"/>
              </a:rPr>
              <a:t> problem — </a:t>
            </a:r>
            <a:r>
              <a:rPr sz="1800" b="1">
                <a:solidFill>
                  <a:srgbClr val="22D3EE"/>
                </a:solidFill>
                <a:latin typeface="Calibri"/>
              </a:rPr>
              <a:t>91%</a:t>
            </a:r>
            <a:r>
              <a:rPr sz="1800" b="0">
                <a:solidFill>
                  <a:srgbClr val="E7ECF3"/>
                </a:solidFill>
                <a:latin typeface="Calibri"/>
              </a:rPr>
              <a:t> had never used AppOps</a:t>
            </a:r>
          </a:p>
          <a:p>
            <a:pPr>
              <a:spcBef>
                <a:spcPts val="0"/>
              </a:spcBef>
              <a:spcAft>
                <a:spcPts val="1300"/>
              </a:spcAft>
            </a:pPr>
            <a:r>
              <a:rPr sz="1800">
                <a:solidFill>
                  <a:srgbClr val="7C6CFF"/>
                </a:solidFill>
                <a:latin typeface="Calibri"/>
              </a:rPr>
              <a:t>▸  </a:t>
            </a:r>
            <a:r>
              <a:rPr sz="1800" b="0">
                <a:solidFill>
                  <a:srgbClr val="E7ECF3"/>
                </a:solidFill>
                <a:latin typeface="Calibri"/>
              </a:rPr>
              <a:t>Contribution = mainly </a:t>
            </a:r>
            <a:r>
              <a:rPr sz="1800" b="1">
                <a:solidFill>
                  <a:srgbClr val="22D3EE"/>
                </a:solidFill>
                <a:latin typeface="Calibri"/>
              </a:rPr>
              <a:t>empirical</a:t>
            </a:r>
            <a:r>
              <a:rPr sz="1800" b="0">
                <a:solidFill>
                  <a:srgbClr val="E7ECF3"/>
                </a:solidFill>
                <a:latin typeface="Calibri"/>
              </a:rPr>
              <a:t> (new findings) + a strong </a:t>
            </a:r>
            <a:r>
              <a:rPr sz="1800" b="1">
                <a:solidFill>
                  <a:srgbClr val="22D3EE"/>
                </a:solidFill>
                <a:latin typeface="Calibri"/>
              </a:rPr>
              <a:t>artifact</a:t>
            </a:r>
            <a:r>
              <a:rPr sz="1800" b="0">
                <a:solidFill>
                  <a:srgbClr val="E7ECF3"/>
                </a:solidFill>
                <a:latin typeface="Calibri"/>
              </a:rPr>
              <a:t> (the built nudge)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2377440"/>
            <a:ext cx="12191695" cy="210312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97480"/>
            <a:ext cx="10515600" cy="1280160"/>
          </a:xfrm>
          <a:prstGeom prst="rect">
            <a:avLst/>
          </a:prstGeom>
          <a:noFill/>
        </p:spPr>
        <p:txBody>
          <a:bodyPr wrap="square">
            <a:spAutoFit/>
          </a:bodyPr>
          <a:lstStyle/>
          <a:p>
            <a:r>
              <a:rPr sz="4000" b="1">
                <a:solidFill>
                  <a:srgbClr val="E7ECF3"/>
                </a:solidFill>
                <a:latin typeface="Calibri"/>
              </a:rPr>
              <a:t>MY IDEA — PrivacyMoment</a:t>
            </a:r>
          </a:p>
          <a:p>
            <a:r>
              <a:rPr sz="1600">
                <a:solidFill>
                  <a:srgbClr val="22D3EE"/>
                </a:solidFill>
                <a:latin typeface="Calibri"/>
              </a:rPr>
              <a:t>Keep the nudge that works; fix WHEN it fires    ·    ≈ 2:15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8</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The gap, and my goal</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197864"/>
            <a:ext cx="10972800" cy="457200"/>
          </a:xfrm>
          <a:prstGeom prst="rect">
            <a:avLst/>
          </a:prstGeom>
          <a:noFill/>
        </p:spPr>
        <p:txBody>
          <a:bodyPr wrap="none">
            <a:spAutoFit/>
          </a:bodyPr>
          <a:lstStyle/>
          <a:p>
            <a:r>
              <a:rPr sz="1400" i="1">
                <a:solidFill>
                  <a:srgbClr val="778295"/>
                </a:solidFill>
                <a:latin typeface="Calibri"/>
              </a:rPr>
              <a:t>The paper is blind to the context of use</a:t>
            </a:r>
          </a:p>
        </p:txBody>
      </p:sp>
      <p:sp>
        <p:nvSpPr>
          <p:cNvPr id="8" name="TextBox 7"/>
          <p:cNvSpPr txBox="1"/>
          <p:nvPr/>
        </p:nvSpPr>
        <p:spPr>
          <a:xfrm>
            <a:off x="640080" y="1783080"/>
            <a:ext cx="10972800" cy="4572000"/>
          </a:xfrm>
          <a:prstGeom prst="rect">
            <a:avLst/>
          </a:prstGeom>
          <a:noFill/>
        </p:spPr>
        <p:txBody>
          <a:bodyPr wrap="square">
            <a:spAutoFit/>
          </a:bodyPr>
          <a:lstStyle/>
          <a:p>
            <a:pPr>
              <a:spcBef>
                <a:spcPts val="0"/>
              </a:spcBef>
              <a:spcAft>
                <a:spcPts val="1600"/>
              </a:spcAft>
            </a:pPr>
            <a:r>
              <a:rPr sz="1900">
                <a:solidFill>
                  <a:srgbClr val="7C6CFF"/>
                </a:solidFill>
                <a:latin typeface="Calibri"/>
              </a:rPr>
              <a:t>▸  </a:t>
            </a:r>
            <a:r>
              <a:rPr sz="1900" b="0">
                <a:solidFill>
                  <a:srgbClr val="E7ECF3"/>
                </a:solidFill>
                <a:latin typeface="Calibri"/>
              </a:rPr>
              <a:t>Nudge fired at a </a:t>
            </a:r>
            <a:r>
              <a:rPr sz="1900" b="1">
                <a:solidFill>
                  <a:srgbClr val="22D3EE"/>
                </a:solidFill>
                <a:latin typeface="Calibri"/>
              </a:rPr>
              <a:t>random time (11am–8pm)</a:t>
            </a:r>
            <a:r>
              <a:rPr sz="1900" b="0">
                <a:solidFill>
                  <a:srgbClr val="E7ECF3"/>
                </a:solidFill>
                <a:latin typeface="Calibri"/>
              </a:rPr>
              <a:t> → </a:t>
            </a:r>
            <a:r>
              <a:rPr sz="1900" b="1">
                <a:solidFill>
                  <a:srgbClr val="22D3EE"/>
                </a:solidFill>
                <a:latin typeface="Calibri"/>
              </a:rPr>
              <a:t>P4</a:t>
            </a:r>
            <a:r>
              <a:rPr sz="1900" b="0">
                <a:solidFill>
                  <a:srgbClr val="E7ECF3"/>
                </a:solidFill>
                <a:latin typeface="Calibri"/>
              </a:rPr>
              <a:t> always got it at work; </a:t>
            </a:r>
            <a:r>
              <a:rPr sz="1900" b="1">
                <a:solidFill>
                  <a:srgbClr val="22D3EE"/>
                </a:solidFill>
                <a:latin typeface="Calibri"/>
              </a:rPr>
              <a:t>P19</a:t>
            </a:r>
            <a:r>
              <a:rPr sz="1900" b="0">
                <a:solidFill>
                  <a:srgbClr val="E7ECF3"/>
                </a:solidFill>
                <a:latin typeface="Calibri"/>
              </a:rPr>
              <a:t> got one </a:t>
            </a:r>
            <a:r>
              <a:rPr sz="1900" b="1">
                <a:solidFill>
                  <a:srgbClr val="22D3EE"/>
                </a:solidFill>
                <a:latin typeface="Calibri"/>
              </a:rPr>
              <a:t>mid-run</a:t>
            </a:r>
            <a:r>
              <a:rPr sz="1900" b="0">
                <a:solidFill>
                  <a:srgbClr val="E7ECF3"/>
                </a:solidFill>
                <a:latin typeface="Calibri"/>
              </a:rPr>
              <a:t>, covering their running app</a:t>
            </a:r>
          </a:p>
          <a:p>
            <a:pPr>
              <a:spcBef>
                <a:spcPts val="0"/>
              </a:spcBef>
              <a:spcAft>
                <a:spcPts val="1600"/>
              </a:spcAft>
            </a:pPr>
            <a:r>
              <a:rPr sz="1900">
                <a:solidFill>
                  <a:srgbClr val="7C6CFF"/>
                </a:solidFill>
                <a:latin typeface="Calibri"/>
              </a:rPr>
              <a:t>▸  </a:t>
            </a:r>
            <a:r>
              <a:rPr sz="1900" b="0">
                <a:solidFill>
                  <a:srgbClr val="E7ECF3"/>
                </a:solidFill>
                <a:latin typeface="Calibri"/>
              </a:rPr>
              <a:t>Interviews: pressing </a:t>
            </a:r>
            <a:r>
              <a:rPr sz="1900" b="1">
                <a:solidFill>
                  <a:srgbClr val="22D3EE"/>
                </a:solidFill>
                <a:latin typeface="Calibri"/>
              </a:rPr>
              <a:t>“keep sharing” was often just killing a badly-timed interruption</a:t>
            </a:r>
            <a:r>
              <a:rPr sz="1900" b="0">
                <a:solidFill>
                  <a:srgbClr val="E7ECF3"/>
                </a:solidFill>
                <a:latin typeface="Calibri"/>
              </a:rPr>
              <a:t> — not a real privacy choice</a:t>
            </a:r>
          </a:p>
          <a:p>
            <a:pPr>
              <a:spcBef>
                <a:spcPts val="0"/>
              </a:spcBef>
              <a:spcAft>
                <a:spcPts val="1600"/>
              </a:spcAft>
            </a:pPr>
            <a:r>
              <a:rPr sz="1900">
                <a:solidFill>
                  <a:srgbClr val="7C6CFF"/>
                </a:solidFill>
                <a:latin typeface="Calibri"/>
              </a:rPr>
              <a:t>▸  </a:t>
            </a:r>
            <a:r>
              <a:rPr sz="1900" b="1">
                <a:solidFill>
                  <a:srgbClr val="22D3EE"/>
                </a:solidFill>
                <a:latin typeface="Calibri"/>
              </a:rPr>
              <a:t>PrivacyMoment goal:</a:t>
            </a:r>
            <a:r>
              <a:rPr sz="1900" b="0">
                <a:solidFill>
                  <a:srgbClr val="E7ECF3"/>
                </a:solidFill>
                <a:latin typeface="Calibri"/>
              </a:rPr>
              <a:t> keep the frequency nudge that works, but fire it </a:t>
            </a:r>
            <a:r>
              <a:rPr sz="1900" b="1">
                <a:solidFill>
                  <a:srgbClr val="22D3EE"/>
                </a:solidFill>
                <a:latin typeface="Calibri"/>
              </a:rPr>
              <a:t>only at a good moment</a:t>
            </a:r>
            <a:r>
              <a:rPr sz="1900" b="0">
                <a:solidFill>
                  <a:srgbClr val="E7ECF3"/>
                </a:solidFill>
                <a:latin typeface="Calibri"/>
              </a:rPr>
              <a:t> — so a dismissal means a *real* choice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9</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PrivacyMoment — the design</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37360"/>
            <a:ext cx="10972800" cy="4572000"/>
          </a:xfrm>
          <a:prstGeom prst="rect">
            <a:avLst/>
          </a:prstGeom>
          <a:noFill/>
        </p:spPr>
        <p:txBody>
          <a:bodyPr wrap="square">
            <a:spAutoFit/>
          </a:bodyPr>
          <a:lstStyle/>
          <a:p>
            <a:pPr>
              <a:spcBef>
                <a:spcPts val="0"/>
              </a:spcBef>
              <a:spcAft>
                <a:spcPts val="1200"/>
              </a:spcAft>
            </a:pPr>
            <a:r>
              <a:rPr sz="1700">
                <a:solidFill>
                  <a:srgbClr val="7C6CFF"/>
                </a:solidFill>
                <a:latin typeface="Calibri"/>
              </a:rPr>
              <a:t>▸  </a:t>
            </a:r>
            <a:r>
              <a:rPr sz="1700" b="0">
                <a:solidFill>
                  <a:srgbClr val="E7ECF3"/>
                </a:solidFill>
                <a:latin typeface="Calibri"/>
              </a:rPr>
              <a:t>Same </a:t>
            </a:r>
            <a:r>
              <a:rPr sz="1700" b="1">
                <a:solidFill>
                  <a:srgbClr val="22D3EE"/>
                </a:solidFill>
                <a:latin typeface="Calibri"/>
              </a:rPr>
              <a:t>soft-paternalistic frequency nudge</a:t>
            </a:r>
            <a:r>
              <a:rPr sz="1700" b="0">
                <a:solidFill>
                  <a:srgbClr val="E7ECF3"/>
                </a:solidFill>
                <a:latin typeface="Calibri"/>
              </a:rPr>
              <a:t> — but respects </a:t>
            </a:r>
            <a:r>
              <a:rPr sz="1700" b="1">
                <a:solidFill>
                  <a:srgbClr val="22D3EE"/>
                </a:solidFill>
                <a:latin typeface="Calibri"/>
              </a:rPr>
              <a:t>temporal &amp; task context</a:t>
            </a:r>
          </a:p>
          <a:p>
            <a:pPr>
              <a:spcBef>
                <a:spcPts val="0"/>
              </a:spcBef>
              <a:spcAft>
                <a:spcPts val="1200"/>
              </a:spcAft>
            </a:pPr>
            <a:r>
              <a:rPr sz="1700">
                <a:solidFill>
                  <a:srgbClr val="7C6CFF"/>
                </a:solidFill>
                <a:latin typeface="Calibri"/>
              </a:rPr>
              <a:t>▸  </a:t>
            </a:r>
            <a:r>
              <a:rPr sz="1700" b="1">
                <a:solidFill>
                  <a:srgbClr val="22D3EE"/>
                </a:solidFill>
                <a:latin typeface="Calibri"/>
              </a:rPr>
              <a:t>Senses the situation:</a:t>
            </a:r>
            <a:r>
              <a:rPr sz="1700" b="0">
                <a:solidFill>
                  <a:srgbClr val="E7ECF3"/>
                </a:solidFill>
                <a:latin typeface="Calibri"/>
              </a:rPr>
              <a:t> foreground app running? phone moving (accelerometer)? calendar busy?</a:t>
            </a:r>
          </a:p>
          <a:p>
            <a:pPr>
              <a:spcBef>
                <a:spcPts val="0"/>
              </a:spcBef>
              <a:spcAft>
                <a:spcPts val="1200"/>
              </a:spcAft>
            </a:pPr>
            <a:r>
              <a:rPr sz="1700">
                <a:solidFill>
                  <a:srgbClr val="7C6CFF"/>
                </a:solidFill>
                <a:latin typeface="Calibri"/>
              </a:rPr>
              <a:t>▸  </a:t>
            </a:r>
            <a:r>
              <a:rPr sz="1700" b="0">
                <a:solidFill>
                  <a:srgbClr val="E7ECF3"/>
                </a:solidFill>
                <a:latin typeface="Calibri"/>
              </a:rPr>
              <a:t>Fires </a:t>
            </a:r>
            <a:r>
              <a:rPr sz="1700" b="1">
                <a:solidFill>
                  <a:srgbClr val="22D3EE"/>
                </a:solidFill>
                <a:latin typeface="Calibri"/>
              </a:rPr>
              <a:t>only when the nudge can BE the foreground task</a:t>
            </a:r>
            <a:r>
              <a:rPr sz="1700" b="0">
                <a:solidFill>
                  <a:srgbClr val="E7ECF3"/>
                </a:solidFill>
                <a:latin typeface="Calibri"/>
              </a:rPr>
              <a:t> → no interruption</a:t>
            </a:r>
          </a:p>
          <a:p>
            <a:pPr>
              <a:spcBef>
                <a:spcPts val="0"/>
              </a:spcBef>
              <a:spcAft>
                <a:spcPts val="1200"/>
              </a:spcAft>
            </a:pPr>
            <a:r>
              <a:rPr sz="1700">
                <a:solidFill>
                  <a:srgbClr val="7C6CFF"/>
                </a:solidFill>
                <a:latin typeface="Calibri"/>
              </a:rPr>
              <a:t>▸  </a:t>
            </a:r>
            <a:r>
              <a:rPr sz="1700" b="1">
                <a:solidFill>
                  <a:srgbClr val="22D3EE"/>
                </a:solidFill>
                <a:latin typeface="Calibri"/>
              </a:rPr>
              <a:t>Multimodal sensing</a:t>
            </a:r>
            <a:r>
              <a:rPr sz="1700" b="0">
                <a:solidFill>
                  <a:srgbClr val="E7ECF3"/>
                </a:solidFill>
                <a:latin typeface="Calibri"/>
              </a:rPr>
              <a:t> (accelerometer + app-state + calendar); handles </a:t>
            </a:r>
            <a:r>
              <a:rPr sz="1700" b="1">
                <a:solidFill>
                  <a:srgbClr val="22D3EE"/>
                </a:solidFill>
                <a:latin typeface="Calibri"/>
              </a:rPr>
              <a:t>situational impairment</a:t>
            </a:r>
            <a:r>
              <a:rPr sz="1700" b="0">
                <a:solidFill>
                  <a:srgbClr val="E7ECF3"/>
                </a:solidFill>
                <a:latin typeface="Calibri"/>
              </a:rPr>
              <a:t> (running, driving)</a:t>
            </a:r>
          </a:p>
          <a:p>
            <a:pPr>
              <a:spcBef>
                <a:spcPts val="0"/>
              </a:spcBef>
              <a:spcAft>
                <a:spcPts val="1200"/>
              </a:spcAft>
            </a:pPr>
            <a:r>
              <a:rPr sz="1700">
                <a:solidFill>
                  <a:srgbClr val="7C6CFF"/>
                </a:solidFill>
                <a:latin typeface="Calibri"/>
              </a:rPr>
              <a:t>▸  </a:t>
            </a:r>
            <a:r>
              <a:rPr sz="1700" b="0">
                <a:solidFill>
                  <a:srgbClr val="E7ECF3"/>
                </a:solidFill>
                <a:latin typeface="Calibri"/>
              </a:rPr>
              <a:t>Adds </a:t>
            </a:r>
            <a:r>
              <a:rPr sz="1700" b="1">
                <a:solidFill>
                  <a:srgbClr val="22D3EE"/>
                </a:solidFill>
                <a:latin typeface="Calibri"/>
              </a:rPr>
              <a:t>“remind me later”</a:t>
            </a:r>
            <a:r>
              <a:rPr sz="1700" b="0">
                <a:solidFill>
                  <a:srgbClr val="E7ECF3"/>
                </a:solidFill>
                <a:latin typeface="Calibri"/>
              </a:rPr>
              <a:t> (reschedules instead of a fake “keep sharing”), </a:t>
            </a:r>
            <a:r>
              <a:rPr sz="1700" b="1">
                <a:solidFill>
                  <a:srgbClr val="22D3EE"/>
                </a:solidFill>
                <a:latin typeface="Calibri"/>
              </a:rPr>
              <a:t>personalisation</a:t>
            </a:r>
            <a:r>
              <a:rPr sz="1700" b="0">
                <a:solidFill>
                  <a:srgbClr val="E7ECF3"/>
                </a:solidFill>
                <a:latin typeface="Calibri"/>
              </a:rPr>
              <a:t>, and </a:t>
            </a:r>
            <a:r>
              <a:rPr sz="1700" b="1">
                <a:solidFill>
                  <a:srgbClr val="22D3EE"/>
                </a:solidFill>
                <a:latin typeface="Calibri"/>
              </a:rPr>
              <a:t>feedforward</a:t>
            </a:r>
            <a:r>
              <a:rPr sz="1700" b="0">
                <a:solidFill>
                  <a:srgbClr val="E7ECF3"/>
                </a:solidFill>
                <a:latin typeface="Calibri"/>
              </a:rPr>
              <a:t> (shows what would break before you revoke)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10</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How I'd study it — same 9 steps</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1600200"/>
          <a:ext cx="10927079" cy="4480560"/>
        </p:xfrm>
        <a:graphic>
          <a:graphicData uri="http://schemas.openxmlformats.org/drawingml/2006/table">
            <a:tbl>
              <a:tblPr firstRow="1" bandRow="1">
                <a:tableStyleId>{5C22544A-7EE6-4342-B048-85BDC9FD1C3A}</a:tableStyleId>
              </a:tblPr>
              <a:tblGrid>
                <a:gridCol w="2743200"/>
                <a:gridCol w="8183879"/>
              </a:tblGrid>
              <a:tr h="560070">
                <a:tc>
                  <a:txBody>
                    <a:bodyPr wrap="square"/>
                    <a:lstStyle/>
                    <a:p>
                      <a:r>
                        <a:rPr sz="1400" b="1">
                          <a:solidFill>
                            <a:srgbClr val="0E1116"/>
                          </a:solidFill>
                          <a:latin typeface="Calibri"/>
                        </a:rPr>
                        <a:t>Step</a:t>
                      </a:r>
                    </a:p>
                  </a:txBody>
                  <a:tcPr marL="109728" marT="36576" marB="36576" anchor="ctr">
                    <a:solidFill>
                      <a:srgbClr val="7C6CFF"/>
                    </a:solidFill>
                  </a:tcPr>
                </a:tc>
                <a:tc>
                  <a:txBody>
                    <a:bodyPr wrap="square"/>
                    <a:lstStyle/>
                    <a:p>
                      <a:r>
                        <a:rPr sz="1400" b="1">
                          <a:solidFill>
                            <a:srgbClr val="0E1116"/>
                          </a:solidFill>
                          <a:latin typeface="Calibri"/>
                        </a:rPr>
                        <a:t>My choice</a:t>
                      </a:r>
                    </a:p>
                  </a:txBody>
                  <a:tcPr marL="109728" marT="36576" marB="36576" anchor="ctr">
                    <a:solidFill>
                      <a:srgbClr val="7C6CFF"/>
                    </a:solidFill>
                  </a:tcPr>
                </a:tc>
              </a:tr>
              <a:tr h="560070">
                <a:tc>
                  <a:txBody>
                    <a:bodyPr wrap="square"/>
                    <a:lstStyle/>
                    <a:p>
                      <a:r>
                        <a:rPr sz="1250" b="1">
                          <a:solidFill>
                            <a:srgbClr val="E7ECF3"/>
                          </a:solidFill>
                          <a:latin typeface="Calibri"/>
                        </a:rPr>
                        <a:t>Goal</a:t>
                      </a:r>
                    </a:p>
                  </a:txBody>
                  <a:tcPr marL="109728" marT="36576" marB="36576" anchor="ctr">
                    <a:solidFill>
                      <a:srgbClr val="161B26"/>
                    </a:solidFill>
                  </a:tcPr>
                </a:tc>
                <a:tc>
                  <a:txBody>
                    <a:bodyPr wrap="square"/>
                    <a:lstStyle/>
                    <a:p>
                      <a:r>
                        <a:rPr sz="1250" b="0">
                          <a:solidFill>
                            <a:srgbClr val="B6BFCF"/>
                          </a:solidFill>
                          <a:latin typeface="Calibri"/>
                        </a:rPr>
                        <a:t>Does context-aware timing CAUSE fewer bad-timing dismissals?</a:t>
                      </a:r>
                    </a:p>
                  </a:txBody>
                  <a:tcPr marL="109728" marT="36576" marB="36576" anchor="ctr">
                    <a:solidFill>
                      <a:srgbClr val="161B26"/>
                    </a:solidFill>
                  </a:tcPr>
                </a:tc>
              </a:tr>
              <a:tr h="560070">
                <a:tc>
                  <a:txBody>
                    <a:bodyPr wrap="square"/>
                    <a:lstStyle/>
                    <a:p>
                      <a:r>
                        <a:rPr sz="1250" b="1">
                          <a:solidFill>
                            <a:srgbClr val="E7ECF3"/>
                          </a:solidFill>
                          <a:latin typeface="Calibri"/>
                        </a:rPr>
                        <a:t>Worldview / Method</a:t>
                      </a:r>
                    </a:p>
                  </a:txBody>
                  <a:tcPr marL="109728" marT="36576" marB="36576" anchor="ctr">
                    <a:solidFill>
                      <a:srgbClr val="1E2533"/>
                    </a:solidFill>
                  </a:tcPr>
                </a:tc>
                <a:tc>
                  <a:txBody>
                    <a:bodyPr wrap="square"/>
                    <a:lstStyle/>
                    <a:p>
                      <a:r>
                        <a:rPr sz="1250" b="0">
                          <a:solidFill>
                            <a:srgbClr val="B6BFCF"/>
                          </a:solidFill>
                          <a:latin typeface="Calibri"/>
                        </a:rPr>
                        <a:t>Positivist · field experiment with a clean control group</a:t>
                      </a:r>
                    </a:p>
                  </a:txBody>
                  <a:tcPr marL="109728" marT="36576" marB="36576" anchor="ctr">
                    <a:solidFill>
                      <a:srgbClr val="1E2533"/>
                    </a:solidFill>
                  </a:tcPr>
                </a:tc>
              </a:tr>
              <a:tr h="560070">
                <a:tc>
                  <a:txBody>
                    <a:bodyPr wrap="square"/>
                    <a:lstStyle/>
                    <a:p>
                      <a:r>
                        <a:rPr sz="1250" b="1">
                          <a:solidFill>
                            <a:srgbClr val="E7ECF3"/>
                          </a:solidFill>
                          <a:latin typeface="Calibri"/>
                        </a:rPr>
                        <a:t>Setting + Time</a:t>
                      </a:r>
                    </a:p>
                  </a:txBody>
                  <a:tcPr marL="109728" marT="36576" marB="36576" anchor="ctr">
                    <a:solidFill>
                      <a:srgbClr val="161B26"/>
                    </a:solidFill>
                  </a:tcPr>
                </a:tc>
                <a:tc>
                  <a:txBody>
                    <a:bodyPr wrap="square"/>
                    <a:lstStyle/>
                    <a:p>
                      <a:r>
                        <a:rPr sz="1250" b="0">
                          <a:solidFill>
                            <a:srgbClr val="B6BFCF"/>
                          </a:solidFill>
                          <a:latin typeface="Calibri"/>
                        </a:rPr>
                        <a:t>Field (ecological validity) · longitudinal 3–4 wks (kills novelty effects)</a:t>
                      </a:r>
                    </a:p>
                  </a:txBody>
                  <a:tcPr marL="109728" marT="36576" marB="36576" anchor="ctr">
                    <a:solidFill>
                      <a:srgbClr val="161B26"/>
                    </a:solidFill>
                  </a:tcPr>
                </a:tc>
              </a:tr>
              <a:tr h="560070">
                <a:tc>
                  <a:txBody>
                    <a:bodyPr wrap="square"/>
                    <a:lstStyle/>
                    <a:p>
                      <a:r>
                        <a:rPr sz="1250" b="1">
                          <a:solidFill>
                            <a:srgbClr val="E7ECF3"/>
                          </a:solidFill>
                          <a:latin typeface="Calibri"/>
                        </a:rPr>
                        <a:t>Design</a:t>
                      </a:r>
                    </a:p>
                  </a:txBody>
                  <a:tcPr marL="109728" marT="36576" marB="36576" anchor="ctr">
                    <a:solidFill>
                      <a:srgbClr val="1E2533"/>
                    </a:solidFill>
                  </a:tcPr>
                </a:tc>
                <a:tc>
                  <a:txBody>
                    <a:bodyPr wrap="square"/>
                    <a:lstStyle/>
                    <a:p>
                      <a:r>
                        <a:rPr sz="1250" b="0">
                          <a:solidFill>
                            <a:srgbClr val="B6BFCF"/>
                          </a:solidFill>
                          <a:latin typeface="Calibri"/>
                        </a:rPr>
                        <a:t>Between-subjects (you can't un-see your stats → avoids order/learning effects)</a:t>
                      </a:r>
                    </a:p>
                  </a:txBody>
                  <a:tcPr marL="109728" marT="36576" marB="36576" anchor="ctr">
                    <a:solidFill>
                      <a:srgbClr val="1E2533"/>
                    </a:solidFill>
                  </a:tcPr>
                </a:tc>
              </a:tr>
              <a:tr h="560070">
                <a:tc>
                  <a:txBody>
                    <a:bodyPr wrap="square"/>
                    <a:lstStyle/>
                    <a:p>
                      <a:r>
                        <a:rPr sz="1250" b="1">
                          <a:solidFill>
                            <a:srgbClr val="E7ECF3"/>
                          </a:solidFill>
                          <a:latin typeface="Calibri"/>
                        </a:rPr>
                        <a:t>IV / Hypotheses</a:t>
                      </a:r>
                    </a:p>
                  </a:txBody>
                  <a:tcPr marL="109728" marT="36576" marB="36576" anchor="ctr">
                    <a:solidFill>
                      <a:srgbClr val="161B26"/>
                    </a:solidFill>
                  </a:tcPr>
                </a:tc>
                <a:tc>
                  <a:txBody>
                    <a:bodyPr wrap="square"/>
                    <a:lstStyle/>
                    <a:p>
                      <a:r>
                        <a:rPr sz="1250" b="0">
                          <a:solidFill>
                            <a:srgbClr val="B6BFCF"/>
                          </a:solidFill>
                          <a:latin typeface="Calibri"/>
                        </a:rPr>
                        <a:t>IV = timing: (A) random control vs (B) context-aware · H₁ lower dismissal (pre-registered, no HARKing)</a:t>
                      </a:r>
                    </a:p>
                  </a:txBody>
                  <a:tcPr marL="109728" marT="36576" marB="36576" anchor="ctr">
                    <a:solidFill>
                      <a:srgbClr val="161B26"/>
                    </a:solidFill>
                  </a:tcPr>
                </a:tc>
              </a:tr>
              <a:tr h="560070">
                <a:tc>
                  <a:txBody>
                    <a:bodyPr wrap="square"/>
                    <a:lstStyle/>
                    <a:p>
                      <a:r>
                        <a:rPr sz="1250" b="1">
                          <a:solidFill>
                            <a:srgbClr val="E7ECF3"/>
                          </a:solidFill>
                          <a:latin typeface="Calibri"/>
                        </a:rPr>
                        <a:t>Participants</a:t>
                      </a:r>
                    </a:p>
                  </a:txBody>
                  <a:tcPr marL="109728" marT="36576" marB="36576" anchor="ctr">
                    <a:solidFill>
                      <a:srgbClr val="1E2533"/>
                    </a:solidFill>
                  </a:tcPr>
                </a:tc>
                <a:tc>
                  <a:txBody>
                    <a:bodyPr wrap="square"/>
                    <a:lstStyle/>
                    <a:p>
                      <a:r>
                        <a:rPr sz="1250" b="0">
                          <a:solidFill>
                            <a:srgbClr val="B6BFCF"/>
                          </a:solidFill>
                          <a:latin typeface="Calibri"/>
                        </a:rPr>
                        <a:t>Diverse sample for external validity · power calc ≈ N=157</a:t>
                      </a:r>
                    </a:p>
                  </a:txBody>
                  <a:tcPr marL="109728" marT="36576" marB="36576" anchor="ctr">
                    <a:solidFill>
                      <a:srgbClr val="1E2533"/>
                    </a:solidFill>
                  </a:tcPr>
                </a:tc>
              </a:tr>
              <a:tr h="560070">
                <a:tc>
                  <a:txBody>
                    <a:bodyPr wrap="square"/>
                    <a:lstStyle/>
                    <a:p>
                      <a:r>
                        <a:rPr sz="1250" b="1">
                          <a:solidFill>
                            <a:srgbClr val="E7ECF3"/>
                          </a:solidFill>
                          <a:latin typeface="Calibri"/>
                        </a:rPr>
                        <a:t>Data / Analysis</a:t>
                      </a:r>
                    </a:p>
                  </a:txBody>
                  <a:tcPr marL="109728" marT="36576" marB="36576" anchor="ctr">
                    <a:solidFill>
                      <a:srgbClr val="161B26"/>
                    </a:solidFill>
                  </a:tcPr>
                </a:tc>
                <a:tc>
                  <a:txBody>
                    <a:bodyPr wrap="square"/>
                    <a:lstStyle/>
                    <a:p>
                      <a:r>
                        <a:rPr sz="1250" b="0">
                          <a:solidFill>
                            <a:srgbClr val="B6BFCF"/>
                          </a:solidFill>
                          <a:latin typeface="Calibri"/>
                        </a:rPr>
                        <a:t>Observed logs + Likert comfort · Mann-Whitney U + effect size r</a:t>
                      </a:r>
                    </a:p>
                  </a:txBody>
                  <a:tcPr marL="109728" marT="36576" marB="36576" anchor="ctr">
                    <a:solidFill>
                      <a:srgbClr val="161B26"/>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2468880"/>
            <a:ext cx="12191695" cy="192024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743200"/>
            <a:ext cx="10515600" cy="1463040"/>
          </a:xfrm>
          <a:prstGeom prst="rect">
            <a:avLst/>
          </a:prstGeom>
          <a:noFill/>
        </p:spPr>
        <p:txBody>
          <a:bodyPr wrap="square">
            <a:spAutoFit/>
          </a:bodyPr>
          <a:lstStyle/>
          <a:p>
            <a:r>
              <a:rPr sz="4000" b="1">
                <a:solidFill>
                  <a:srgbClr val="E7ECF3"/>
                </a:solidFill>
                <a:latin typeface="Calibri"/>
              </a:rPr>
              <a:t>Thank you</a:t>
            </a:r>
          </a:p>
          <a:p>
            <a:r>
              <a:rPr sz="1800">
                <a:solidFill>
                  <a:srgbClr val="22D3EE"/>
                </a:solidFill>
                <a:latin typeface="Calibri"/>
              </a:rPr>
              <a:t>Keep the nudge that works — fix when it fires.  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2377440"/>
            <a:ext cx="12191695" cy="210312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97480"/>
            <a:ext cx="10515600" cy="1280160"/>
          </a:xfrm>
          <a:prstGeom prst="rect">
            <a:avLst/>
          </a:prstGeom>
          <a:noFill/>
        </p:spPr>
        <p:txBody>
          <a:bodyPr wrap="square">
            <a:spAutoFit/>
          </a:bodyPr>
          <a:lstStyle/>
          <a:p>
            <a:r>
              <a:rPr sz="4000" b="1">
                <a:solidFill>
                  <a:srgbClr val="E7ECF3"/>
                </a:solidFill>
                <a:latin typeface="Calibri"/>
              </a:rPr>
              <a:t>BACKUP SLIDES</a:t>
            </a:r>
          </a:p>
          <a:p>
            <a:r>
              <a:rPr sz="1600">
                <a:solidFill>
                  <a:srgbClr val="22D3EE"/>
                </a:solidFill>
                <a:latin typeface="Calibri"/>
              </a:rPr>
              <a:t>For Q&amp;A — not part of the timed talk    ·    appendix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11</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Paper at a glance — classification</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1554480"/>
          <a:ext cx="10927080" cy="4663440"/>
        </p:xfrm>
        <a:graphic>
          <a:graphicData uri="http://schemas.openxmlformats.org/drawingml/2006/table">
            <a:tbl>
              <a:tblPr firstRow="1" bandRow="1">
                <a:tableStyleId>{5C22544A-7EE6-4342-B048-85BDC9FD1C3A}</a:tableStyleId>
              </a:tblPr>
              <a:tblGrid>
                <a:gridCol w="2926080"/>
                <a:gridCol w="8001000"/>
              </a:tblGrid>
              <a:tr h="466344">
                <a:tc>
                  <a:txBody>
                    <a:bodyPr wrap="square"/>
                    <a:lstStyle/>
                    <a:p>
                      <a:r>
                        <a:rPr sz="1300" b="1">
                          <a:solidFill>
                            <a:srgbClr val="0E1116"/>
                          </a:solidFill>
                          <a:latin typeface="Calibri"/>
                        </a:rPr>
                        <a:t>Dimension</a:t>
                      </a:r>
                    </a:p>
                  </a:txBody>
                  <a:tcPr marL="109728" marT="18288" marB="18288" anchor="ctr">
                    <a:solidFill>
                      <a:srgbClr val="7C6CFF"/>
                    </a:solidFill>
                  </a:tcPr>
                </a:tc>
                <a:tc>
                  <a:txBody>
                    <a:bodyPr wrap="square"/>
                    <a:lstStyle/>
                    <a:p>
                      <a:r>
                        <a:rPr sz="1300" b="1">
                          <a:solidFill>
                            <a:srgbClr val="0E1116"/>
                          </a:solidFill>
                          <a:latin typeface="Calibri"/>
                        </a:rPr>
                        <a:t>Classification</a:t>
                      </a:r>
                    </a:p>
                  </a:txBody>
                  <a:tcPr marL="109728" marT="18288" marB="18288" anchor="ctr">
                    <a:solidFill>
                      <a:srgbClr val="7C6CFF"/>
                    </a:solidFill>
                  </a:tcPr>
                </a:tc>
              </a:tr>
              <a:tr h="466344">
                <a:tc>
                  <a:txBody>
                    <a:bodyPr wrap="square"/>
                    <a:lstStyle/>
                    <a:p>
                      <a:r>
                        <a:rPr sz="1150" b="1">
                          <a:solidFill>
                            <a:srgbClr val="E7ECF3"/>
                          </a:solidFill>
                          <a:latin typeface="Calibri"/>
                        </a:rPr>
                        <a:t>Setting</a:t>
                      </a:r>
                    </a:p>
                  </a:txBody>
                  <a:tcPr marL="109728" marT="18288" marB="18288" anchor="ctr">
                    <a:solidFill>
                      <a:srgbClr val="161B26"/>
                    </a:solidFill>
                  </a:tcPr>
                </a:tc>
                <a:tc>
                  <a:txBody>
                    <a:bodyPr wrap="square"/>
                    <a:lstStyle/>
                    <a:p>
                      <a:r>
                        <a:rPr sz="1150" b="0">
                          <a:solidFill>
                            <a:srgbClr val="B6BFCF"/>
                          </a:solidFill>
                          <a:latin typeface="Calibri"/>
                        </a:rPr>
                        <a:t>Field study, far toward realism (their own phones, in the wild)</a:t>
                      </a:r>
                    </a:p>
                  </a:txBody>
                  <a:tcPr marL="109728" marT="18288" marB="18288" anchor="ctr">
                    <a:solidFill>
                      <a:srgbClr val="161B26"/>
                    </a:solidFill>
                  </a:tcPr>
                </a:tc>
              </a:tr>
              <a:tr h="466344">
                <a:tc>
                  <a:txBody>
                    <a:bodyPr wrap="square"/>
                    <a:lstStyle/>
                    <a:p>
                      <a:r>
                        <a:rPr sz="1150" b="1">
                          <a:solidFill>
                            <a:srgbClr val="E7ECF3"/>
                          </a:solidFill>
                          <a:latin typeface="Calibri"/>
                        </a:rPr>
                        <a:t>Design</a:t>
                      </a:r>
                    </a:p>
                  </a:txBody>
                  <a:tcPr marL="109728" marT="18288" marB="18288" anchor="ctr">
                    <a:solidFill>
                      <a:srgbClr val="1E2533"/>
                    </a:solidFill>
                  </a:tcPr>
                </a:tc>
                <a:tc>
                  <a:txBody>
                    <a:bodyPr wrap="square"/>
                    <a:lstStyle/>
                    <a:p>
                      <a:r>
                        <a:rPr sz="1150" b="0">
                          <a:solidFill>
                            <a:srgbClr val="B6BFCF"/>
                          </a:solidFill>
                          <a:latin typeface="Calibri"/>
                        </a:rPr>
                        <a:t>Within-subjects quasi-experiment · 3 phases · NO control group</a:t>
                      </a:r>
                    </a:p>
                  </a:txBody>
                  <a:tcPr marL="109728" marT="18288" marB="18288" anchor="ctr">
                    <a:solidFill>
                      <a:srgbClr val="1E2533"/>
                    </a:solidFill>
                  </a:tcPr>
                </a:tc>
              </a:tr>
              <a:tr h="466344">
                <a:tc>
                  <a:txBody>
                    <a:bodyPr wrap="square"/>
                    <a:lstStyle/>
                    <a:p>
                      <a:r>
                        <a:rPr sz="1150" b="1">
                          <a:solidFill>
                            <a:srgbClr val="E7ECF3"/>
                          </a:solidFill>
                          <a:latin typeface="Calibri"/>
                        </a:rPr>
                        <a:t>Duration</a:t>
                      </a:r>
                    </a:p>
                  </a:txBody>
                  <a:tcPr marL="109728" marT="18288" marB="18288" anchor="ctr">
                    <a:solidFill>
                      <a:srgbClr val="161B26"/>
                    </a:solidFill>
                  </a:tcPr>
                </a:tc>
                <a:tc>
                  <a:txBody>
                    <a:bodyPr wrap="square"/>
                    <a:lstStyle/>
                    <a:p>
                      <a:r>
                        <a:rPr sz="1150" b="0">
                          <a:solidFill>
                            <a:srgbClr val="B6BFCF"/>
                          </a:solidFill>
                          <a:latin typeface="Calibri"/>
                        </a:rPr>
                        <a:t>Longitudinal, 22 days (7+7+8) → opens habituation/novelty question</a:t>
                      </a:r>
                    </a:p>
                  </a:txBody>
                  <a:tcPr marL="109728" marT="18288" marB="18288" anchor="ctr">
                    <a:solidFill>
                      <a:srgbClr val="161B26"/>
                    </a:solidFill>
                  </a:tcPr>
                </a:tc>
              </a:tr>
              <a:tr h="466344">
                <a:tc>
                  <a:txBody>
                    <a:bodyPr wrap="square"/>
                    <a:lstStyle/>
                    <a:p>
                      <a:r>
                        <a:rPr sz="1150" b="1">
                          <a:solidFill>
                            <a:srgbClr val="E7ECF3"/>
                          </a:solidFill>
                          <a:latin typeface="Calibri"/>
                        </a:rPr>
                        <a:t>Order effects</a:t>
                      </a:r>
                    </a:p>
                  </a:txBody>
                  <a:tcPr marL="109728" marT="18288" marB="18288" anchor="ctr">
                    <a:solidFill>
                      <a:srgbClr val="1E2533"/>
                    </a:solidFill>
                  </a:tcPr>
                </a:tc>
                <a:tc>
                  <a:txBody>
                    <a:bodyPr wrap="square"/>
                    <a:lstStyle/>
                    <a:p>
                      <a:r>
                        <a:rPr sz="1150" b="0">
                          <a:solidFill>
                            <a:srgbClr val="B6BFCF"/>
                          </a:solidFill>
                          <a:latin typeface="Calibri"/>
                        </a:rPr>
                        <a:t>Nudge-TYPE order randomised; PHASE order fixed → not full counterbalancing</a:t>
                      </a:r>
                    </a:p>
                  </a:txBody>
                  <a:tcPr marL="109728" marT="18288" marB="18288" anchor="ctr">
                    <a:solidFill>
                      <a:srgbClr val="1E2533"/>
                    </a:solidFill>
                  </a:tcPr>
                </a:tc>
              </a:tr>
              <a:tr h="466344">
                <a:tc>
                  <a:txBody>
                    <a:bodyPr wrap="square"/>
                    <a:lstStyle/>
                    <a:p>
                      <a:r>
                        <a:rPr sz="1150" b="1">
                          <a:solidFill>
                            <a:srgbClr val="E7ECF3"/>
                          </a:solidFill>
                          <a:latin typeface="Calibri"/>
                        </a:rPr>
                        <a:t>Worldview</a:t>
                      </a:r>
                    </a:p>
                  </a:txBody>
                  <a:tcPr marL="109728" marT="18288" marB="18288" anchor="ctr">
                    <a:solidFill>
                      <a:srgbClr val="161B26"/>
                    </a:solidFill>
                  </a:tcPr>
                </a:tc>
                <a:tc>
                  <a:txBody>
                    <a:bodyPr wrap="square"/>
                    <a:lstStyle/>
                    <a:p>
                      <a:r>
                        <a:rPr sz="1150" b="0">
                          <a:solidFill>
                            <a:srgbClr val="B6BFCF"/>
                          </a:solidFill>
                          <a:latin typeface="Calibri"/>
                        </a:rPr>
                        <a:t>Positivist-leaning mixed methods (counts, %, regression p&lt;.05)</a:t>
                      </a:r>
                    </a:p>
                  </a:txBody>
                  <a:tcPr marL="109728" marT="18288" marB="18288" anchor="ctr">
                    <a:solidFill>
                      <a:srgbClr val="161B26"/>
                    </a:solidFill>
                  </a:tcPr>
                </a:tc>
              </a:tr>
              <a:tr h="466344">
                <a:tc>
                  <a:txBody>
                    <a:bodyPr wrap="square"/>
                    <a:lstStyle/>
                    <a:p>
                      <a:r>
                        <a:rPr sz="1150" b="1">
                          <a:solidFill>
                            <a:srgbClr val="E7ECF3"/>
                          </a:solidFill>
                          <a:latin typeface="Calibri"/>
                        </a:rPr>
                        <a:t>Internal validity</a:t>
                      </a:r>
                    </a:p>
                  </a:txBody>
                  <a:tcPr marL="109728" marT="18288" marB="18288" anchor="ctr">
                    <a:solidFill>
                      <a:srgbClr val="1E2533"/>
                    </a:solidFill>
                  </a:tcPr>
                </a:tc>
                <a:tc>
                  <a:txBody>
                    <a:bodyPr wrap="square"/>
                    <a:lstStyle/>
                    <a:p>
                      <a:r>
                        <a:rPr sz="1150" b="0">
                          <a:solidFill>
                            <a:srgbClr val="B6BFCF"/>
                          </a:solidFill>
                          <a:latin typeface="Calibri"/>
                        </a:rPr>
                        <a:t>Medium — phases confounded with time; dose varied; 10-min attribution</a:t>
                      </a:r>
                    </a:p>
                  </a:txBody>
                  <a:tcPr marL="109728" marT="18288" marB="18288" anchor="ctr">
                    <a:solidFill>
                      <a:srgbClr val="1E2533"/>
                    </a:solidFill>
                  </a:tcPr>
                </a:tc>
              </a:tr>
              <a:tr h="466344">
                <a:tc>
                  <a:txBody>
                    <a:bodyPr wrap="square"/>
                    <a:lstStyle/>
                    <a:p>
                      <a:r>
                        <a:rPr sz="1150" b="1">
                          <a:solidFill>
                            <a:srgbClr val="E7ECF3"/>
                          </a:solidFill>
                          <a:latin typeface="Calibri"/>
                        </a:rPr>
                        <a:t>External validity</a:t>
                      </a:r>
                    </a:p>
                  </a:txBody>
                  <a:tcPr marL="109728" marT="18288" marB="18288" anchor="ctr">
                    <a:solidFill>
                      <a:srgbClr val="161B26"/>
                    </a:solidFill>
                  </a:tcPr>
                </a:tc>
                <a:tc>
                  <a:txBody>
                    <a:bodyPr wrap="square"/>
                    <a:lstStyle/>
                    <a:p>
                      <a:r>
                        <a:rPr sz="1150" b="0">
                          <a:solidFill>
                            <a:srgbClr val="B6BFCF"/>
                          </a:solidFill>
                          <a:latin typeface="Calibri"/>
                        </a:rPr>
                        <a:t>Weak — N=23, 65% female, local, platform-locked (it's the sample, not the setting)</a:t>
                      </a:r>
                    </a:p>
                  </a:txBody>
                  <a:tcPr marL="109728" marT="18288" marB="18288" anchor="ctr">
                    <a:solidFill>
                      <a:srgbClr val="161B26"/>
                    </a:solidFill>
                  </a:tcPr>
                </a:tc>
              </a:tr>
              <a:tr h="466344">
                <a:tc>
                  <a:txBody>
                    <a:bodyPr wrap="square"/>
                    <a:lstStyle/>
                    <a:p>
                      <a:r>
                        <a:rPr sz="1150" b="1">
                          <a:solidFill>
                            <a:srgbClr val="E7ECF3"/>
                          </a:solidFill>
                          <a:latin typeface="Calibri"/>
                        </a:rPr>
                        <a:t>Ecological validity</a:t>
                      </a:r>
                    </a:p>
                  </a:txBody>
                  <a:tcPr marL="109728" marT="18288" marB="18288" anchor="ctr">
                    <a:solidFill>
                      <a:srgbClr val="1E2533"/>
                    </a:solidFill>
                  </a:tcPr>
                </a:tc>
                <a:tc>
                  <a:txBody>
                    <a:bodyPr wrap="square"/>
                    <a:lstStyle/>
                    <a:p>
                      <a:r>
                        <a:rPr sz="1150" b="0">
                          <a:solidFill>
                            <a:srgbClr val="B6BFCF"/>
                          </a:solidFill>
                          <a:latin typeface="Calibri"/>
                        </a:rPr>
                        <a:t>Strong — main strength</a:t>
                      </a:r>
                    </a:p>
                  </a:txBody>
                  <a:tcPr marL="109728" marT="18288" marB="18288" anchor="ctr">
                    <a:solidFill>
                      <a:srgbClr val="1E2533"/>
                    </a:solidFill>
                  </a:tcPr>
                </a:tc>
              </a:tr>
              <a:tr h="466344">
                <a:tc>
                  <a:txBody>
                    <a:bodyPr wrap="square"/>
                    <a:lstStyle/>
                    <a:p>
                      <a:r>
                        <a:rPr sz="1150" b="1">
                          <a:solidFill>
                            <a:srgbClr val="E7ECF3"/>
                          </a:solidFill>
                          <a:latin typeface="Calibri"/>
                        </a:rPr>
                        <a:t>Contribution</a:t>
                      </a:r>
                    </a:p>
                  </a:txBody>
                  <a:tcPr marL="109728" marT="18288" marB="18288" anchor="ctr">
                    <a:solidFill>
                      <a:srgbClr val="161B26"/>
                    </a:solidFill>
                  </a:tcPr>
                </a:tc>
                <a:tc>
                  <a:txBody>
                    <a:bodyPr wrap="square"/>
                    <a:lstStyle/>
                    <a:p>
                      <a:r>
                        <a:rPr sz="1150" b="0">
                          <a:solidFill>
                            <a:srgbClr val="B6BFCF"/>
                          </a:solidFill>
                          <a:latin typeface="Calibri"/>
                        </a:rPr>
                        <a:t>Mainly empirical + artifact (the nudge) — Wobbrock &amp; Kientz</a:t>
                      </a:r>
                    </a:p>
                  </a:txBody>
                  <a:tcPr marL="109728" marT="18288" marB="18288" anchor="ctr">
                    <a:solidFill>
                      <a:srgbClr val="161B26"/>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12</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What the paper is weak on</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197864"/>
            <a:ext cx="10972800" cy="457200"/>
          </a:xfrm>
          <a:prstGeom prst="rect">
            <a:avLst/>
          </a:prstGeom>
          <a:noFill/>
        </p:spPr>
        <p:txBody>
          <a:bodyPr wrap="none">
            <a:spAutoFit/>
          </a:bodyPr>
          <a:lstStyle/>
          <a:p>
            <a:r>
              <a:rPr sz="1400" i="1">
                <a:solidFill>
                  <a:srgbClr val="778295"/>
                </a:solidFill>
                <a:latin typeface="Calibri"/>
              </a:rPr>
              <a:t>Say these first if questioned</a:t>
            </a:r>
          </a:p>
        </p:txBody>
      </p:sp>
      <p:sp>
        <p:nvSpPr>
          <p:cNvPr id="8" name="TextBox 7"/>
          <p:cNvSpPr txBox="1"/>
          <p:nvPr/>
        </p:nvSpPr>
        <p:spPr>
          <a:xfrm>
            <a:off x="640080" y="1691640"/>
            <a:ext cx="10972800" cy="4572000"/>
          </a:xfrm>
          <a:prstGeom prst="rect">
            <a:avLst/>
          </a:prstGeom>
          <a:noFill/>
        </p:spPr>
        <p:txBody>
          <a:bodyPr wrap="square">
            <a:spAutoFit/>
          </a:bodyPr>
          <a:lstStyle/>
          <a:p>
            <a:pPr>
              <a:spcBef>
                <a:spcPts val="0"/>
              </a:spcBef>
              <a:spcAft>
                <a:spcPts val="900"/>
              </a:spcAft>
            </a:pPr>
            <a:r>
              <a:rPr sz="1600">
                <a:solidFill>
                  <a:srgbClr val="7C6CFF"/>
                </a:solidFill>
                <a:latin typeface="Calibri"/>
              </a:rPr>
              <a:t>▸  </a:t>
            </a:r>
            <a:r>
              <a:rPr sz="1600" b="1">
                <a:solidFill>
                  <a:srgbClr val="22D3EE"/>
                </a:solidFill>
                <a:latin typeface="Calibri"/>
              </a:rPr>
              <a:t>No no-nudge control group</a:t>
            </a:r>
            <a:r>
              <a:rPr sz="1600" b="0">
                <a:solidFill>
                  <a:srgbClr val="E7ECF3"/>
                </a:solidFill>
                <a:latin typeface="Calibri"/>
              </a:rPr>
              <a:t> → Phase-3 effect confounded with time (internal validity)</a:t>
            </a:r>
          </a:p>
          <a:p>
            <a:pPr>
              <a:spcBef>
                <a:spcPts val="0"/>
              </a:spcBef>
              <a:spcAft>
                <a:spcPts val="900"/>
              </a:spcAft>
            </a:pPr>
            <a:r>
              <a:rPr sz="1600">
                <a:solidFill>
                  <a:srgbClr val="7C6CFF"/>
                </a:solidFill>
                <a:latin typeface="Calibri"/>
              </a:rPr>
              <a:t>▸  </a:t>
            </a:r>
            <a:r>
              <a:rPr sz="1600" b="1">
                <a:solidFill>
                  <a:srgbClr val="22D3EE"/>
                </a:solidFill>
                <a:latin typeface="Calibri"/>
              </a:rPr>
              <a:t>Carry-over:</a:t>
            </a:r>
            <a:r>
              <a:rPr sz="1600" b="0">
                <a:solidFill>
                  <a:srgbClr val="E7ECF3"/>
                </a:solidFill>
                <a:latin typeface="Calibri"/>
              </a:rPr>
              <a:t> authors admit Phase 3 behaviour depends on Phase 2</a:t>
            </a:r>
          </a:p>
          <a:p>
            <a:pPr>
              <a:spcBef>
                <a:spcPts val="0"/>
              </a:spcBef>
              <a:spcAft>
                <a:spcPts val="900"/>
              </a:spcAft>
            </a:pPr>
            <a:r>
              <a:rPr sz="1600">
                <a:solidFill>
                  <a:srgbClr val="7C6CFF"/>
                </a:solidFill>
                <a:latin typeface="Calibri"/>
              </a:rPr>
              <a:t>▸  </a:t>
            </a:r>
            <a:r>
              <a:rPr sz="1600" b="1">
                <a:solidFill>
                  <a:srgbClr val="22D3EE"/>
                </a:solidFill>
                <a:latin typeface="Calibri"/>
              </a:rPr>
              <a:t>Small, lopsided, self-chosen, platform-locked sample</a:t>
            </a:r>
            <a:r>
              <a:rPr sz="1600" b="0">
                <a:solidFill>
                  <a:srgbClr val="E7ECF3"/>
                </a:solidFill>
                <a:latin typeface="Calibri"/>
              </a:rPr>
              <a:t> (N=23) → weak external validity</a:t>
            </a:r>
          </a:p>
          <a:p>
            <a:pPr>
              <a:spcBef>
                <a:spcPts val="0"/>
              </a:spcBef>
              <a:spcAft>
                <a:spcPts val="900"/>
              </a:spcAft>
            </a:pPr>
            <a:r>
              <a:rPr sz="1600">
                <a:solidFill>
                  <a:srgbClr val="7C6CFF"/>
                </a:solidFill>
                <a:latin typeface="Calibri"/>
              </a:rPr>
              <a:t>▸  </a:t>
            </a:r>
            <a:r>
              <a:rPr sz="1600" b="1">
                <a:solidFill>
                  <a:srgbClr val="22D3EE"/>
                </a:solidFill>
                <a:latin typeface="Calibri"/>
              </a:rPr>
              <a:t>Cause guessed from a 10-minute window</a:t>
            </a:r>
            <a:r>
              <a:rPr sz="1600" b="0">
                <a:solidFill>
                  <a:srgbClr val="E7ECF3"/>
                </a:solidFill>
                <a:latin typeface="Calibri"/>
              </a:rPr>
              <a:t>, not logged directly</a:t>
            </a:r>
          </a:p>
          <a:p>
            <a:pPr>
              <a:spcBef>
                <a:spcPts val="0"/>
              </a:spcBef>
              <a:spcAft>
                <a:spcPts val="900"/>
              </a:spcAft>
            </a:pPr>
            <a:r>
              <a:rPr sz="1600">
                <a:solidFill>
                  <a:srgbClr val="7C6CFF"/>
                </a:solidFill>
                <a:latin typeface="Calibri"/>
              </a:rPr>
              <a:t>▸  </a:t>
            </a:r>
            <a:r>
              <a:rPr sz="1600" b="1">
                <a:solidFill>
                  <a:srgbClr val="22D3EE"/>
                </a:solidFill>
                <a:latin typeface="Calibri"/>
              </a:rPr>
              <a:t>Habituation / novelty</a:t>
            </a:r>
            <a:r>
              <a:rPr sz="1600" b="0">
                <a:solidFill>
                  <a:srgbClr val="E7ECF3"/>
                </a:solidFill>
                <a:latin typeface="Calibri"/>
              </a:rPr>
              <a:t> not handled in 8 nudge days (clear day-10 drop)</a:t>
            </a:r>
          </a:p>
          <a:p>
            <a:pPr>
              <a:spcBef>
                <a:spcPts val="0"/>
              </a:spcBef>
              <a:spcAft>
                <a:spcPts val="900"/>
              </a:spcAft>
            </a:pPr>
            <a:r>
              <a:rPr sz="1600">
                <a:solidFill>
                  <a:srgbClr val="7C6CFF"/>
                </a:solidFill>
                <a:latin typeface="Calibri"/>
              </a:rPr>
              <a:t>▸  </a:t>
            </a:r>
            <a:r>
              <a:rPr sz="1600" b="1">
                <a:solidFill>
                  <a:srgbClr val="22D3EE"/>
                </a:solidFill>
                <a:latin typeface="Calibri"/>
              </a:rPr>
              <a:t>Restriction ≠ real privacy</a:t>
            </a:r>
            <a:r>
              <a:rPr sz="1600" b="0">
                <a:solidFill>
                  <a:srgbClr val="E7ECF3"/>
                </a:solidFill>
                <a:latin typeface="Calibri"/>
              </a:rPr>
              <a:t> — 68% of nudge-triggered changes were off-type</a:t>
            </a:r>
          </a:p>
          <a:p>
            <a:pPr>
              <a:spcBef>
                <a:spcPts val="0"/>
              </a:spcBef>
              <a:spcAft>
                <a:spcPts val="900"/>
              </a:spcAft>
            </a:pPr>
            <a:r>
              <a:rPr sz="1600">
                <a:solidFill>
                  <a:srgbClr val="7C6CFF"/>
                </a:solidFill>
                <a:latin typeface="Calibri"/>
              </a:rPr>
              <a:t>▸  </a:t>
            </a:r>
            <a:r>
              <a:rPr sz="1600" b="0">
                <a:solidFill>
                  <a:srgbClr val="E7ECF3"/>
                </a:solidFill>
                <a:latin typeface="Calibri"/>
              </a:rPr>
              <a:t>Mostly </a:t>
            </a:r>
            <a:r>
              <a:rPr sz="1600" b="1">
                <a:solidFill>
                  <a:srgbClr val="22D3EE"/>
                </a:solidFill>
                <a:latin typeface="Calibri"/>
              </a:rPr>
              <a:t>descriptive stats</a:t>
            </a:r>
            <a:r>
              <a:rPr sz="1600" b="0">
                <a:solidFill>
                  <a:srgbClr val="E7ECF3"/>
                </a:solidFill>
                <a:latin typeface="Calibri"/>
              </a:rPr>
              <a:t>, one regression, </a:t>
            </a:r>
            <a:r>
              <a:rPr sz="1600" b="1">
                <a:solidFill>
                  <a:srgbClr val="22D3EE"/>
                </a:solidFill>
                <a:latin typeface="Calibri"/>
              </a:rPr>
              <a:t>no effect sizes</a:t>
            </a:r>
            <a:r>
              <a:rPr sz="1600" b="0">
                <a:solidFill>
                  <a:srgbClr val="E7ECF3"/>
                </a:solidFill>
                <a:latin typeface="Calibri"/>
              </a:rPr>
              <a:t>, underpowered (need ≈N=157)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13</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Contexts of use (5 ISO types)</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37360"/>
            <a:ext cx="10972800" cy="4572000"/>
          </a:xfrm>
          <a:prstGeom prst="rect">
            <a:avLst/>
          </a:prstGeom>
          <a:noFill/>
        </p:spPr>
        <p:txBody>
          <a:bodyPr wrap="square">
            <a:spAutoFit/>
          </a:bodyPr>
          <a:lstStyle/>
          <a:p>
            <a:pPr>
              <a:spcBef>
                <a:spcPts val="0"/>
              </a:spcBef>
              <a:spcAft>
                <a:spcPts val="1100"/>
              </a:spcAft>
            </a:pPr>
            <a:r>
              <a:rPr sz="1600">
                <a:solidFill>
                  <a:srgbClr val="7C6CFF"/>
                </a:solidFill>
                <a:latin typeface="Calibri"/>
              </a:rPr>
              <a:t>▸  </a:t>
            </a:r>
            <a:r>
              <a:rPr sz="1600" b="1">
                <a:solidFill>
                  <a:srgbClr val="22D3EE"/>
                </a:solidFill>
                <a:latin typeface="Calibri"/>
              </a:rPr>
              <a:t>Temporal</a:t>
            </a:r>
            <a:r>
              <a:rPr sz="1600" b="0">
                <a:solidFill>
                  <a:srgbClr val="E7ECF3"/>
                </a:solidFill>
                <a:latin typeface="Calibri"/>
              </a:rPr>
              <a:t> (HIGH) — random 11am–8pm timing caused P4/P19 dismissals; habituation over 22 days</a:t>
            </a:r>
          </a:p>
          <a:p>
            <a:pPr>
              <a:spcBef>
                <a:spcPts val="0"/>
              </a:spcBef>
              <a:spcAft>
                <a:spcPts val="1100"/>
              </a:spcAft>
            </a:pPr>
            <a:r>
              <a:rPr sz="1600">
                <a:solidFill>
                  <a:srgbClr val="7C6CFF"/>
                </a:solidFill>
                <a:latin typeface="Calibri"/>
              </a:rPr>
              <a:t>▸  </a:t>
            </a:r>
            <a:r>
              <a:rPr sz="1600" b="1">
                <a:solidFill>
                  <a:srgbClr val="22D3EE"/>
                </a:solidFill>
                <a:latin typeface="Calibri"/>
              </a:rPr>
              <a:t>Task</a:t>
            </a:r>
            <a:r>
              <a:rPr sz="1600" b="0">
                <a:solidFill>
                  <a:srgbClr val="E7ECF3"/>
                </a:solidFill>
                <a:latin typeface="Calibri"/>
              </a:rPr>
              <a:t> (HIGH) — privacy is a *secondary/background* task; the nudge interrupts the *primary* task (P19's run)</a:t>
            </a:r>
          </a:p>
          <a:p>
            <a:pPr>
              <a:spcBef>
                <a:spcPts val="0"/>
              </a:spcBef>
              <a:spcAft>
                <a:spcPts val="1100"/>
              </a:spcAft>
            </a:pPr>
            <a:r>
              <a:rPr sz="1600">
                <a:solidFill>
                  <a:srgbClr val="7C6CFF"/>
                </a:solidFill>
                <a:latin typeface="Calibri"/>
              </a:rPr>
              <a:t>▸  </a:t>
            </a:r>
            <a:r>
              <a:rPr sz="1600" b="1">
                <a:solidFill>
                  <a:srgbClr val="22D3EE"/>
                </a:solidFill>
                <a:latin typeface="Calibri"/>
              </a:rPr>
              <a:t>Physical</a:t>
            </a:r>
            <a:r>
              <a:rPr sz="1600" b="0">
                <a:solidFill>
                  <a:srgbClr val="E7ECF3"/>
                </a:solidFill>
                <a:latin typeface="Calibri"/>
              </a:rPr>
              <a:t> (MED/HIGH) — body &amp; movement: P19 getting a nudge </a:t>
            </a:r>
            <a:r>
              <a:rPr sz="1600" b="1">
                <a:solidFill>
                  <a:srgbClr val="22D3EE"/>
                </a:solidFill>
                <a:latin typeface="Calibri"/>
              </a:rPr>
              <a:t>mid-run</a:t>
            </a:r>
          </a:p>
          <a:p>
            <a:pPr>
              <a:spcBef>
                <a:spcPts val="0"/>
              </a:spcBef>
              <a:spcAft>
                <a:spcPts val="1100"/>
              </a:spcAft>
            </a:pPr>
            <a:r>
              <a:rPr sz="1600">
                <a:solidFill>
                  <a:srgbClr val="7C6CFF"/>
                </a:solidFill>
                <a:latin typeface="Calibri"/>
              </a:rPr>
              <a:t>▸  </a:t>
            </a:r>
            <a:r>
              <a:rPr sz="1600" b="1">
                <a:solidFill>
                  <a:srgbClr val="22D3EE"/>
                </a:solidFill>
                <a:latin typeface="Calibri"/>
              </a:rPr>
              <a:t>Technical</a:t>
            </a:r>
            <a:r>
              <a:rPr sz="1600" b="0">
                <a:solidFill>
                  <a:srgbClr val="E7ECF3"/>
                </a:solidFill>
                <a:latin typeface="Calibri"/>
              </a:rPr>
              <a:t> (HIGH) — Android 4.3–4.4 only; connectivity loss changed the dose; AppOps showed all permissions at once → 68% off-type</a:t>
            </a:r>
          </a:p>
          <a:p>
            <a:pPr>
              <a:spcBef>
                <a:spcPts val="0"/>
              </a:spcBef>
              <a:spcAft>
                <a:spcPts val="1100"/>
              </a:spcAft>
            </a:pPr>
            <a:r>
              <a:rPr sz="1600">
                <a:solidFill>
                  <a:srgbClr val="7C6CFF"/>
                </a:solidFill>
                <a:latin typeface="Calibri"/>
              </a:rPr>
              <a:t>▸  </a:t>
            </a:r>
            <a:r>
              <a:rPr sz="1600" b="1">
                <a:solidFill>
                  <a:srgbClr val="22D3EE"/>
                </a:solidFill>
                <a:latin typeface="Calibri"/>
              </a:rPr>
              <a:t>Social</a:t>
            </a:r>
            <a:r>
              <a:rPr sz="1600" b="0">
                <a:solidFill>
                  <a:srgbClr val="E7ECF3"/>
                </a:solidFill>
                <a:latin typeface="Calibri"/>
              </a:rPr>
              <a:t> (MED/HIGH) — privacy is social; user-vs-provider asymmetry; phone as personal territory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14</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Privacy concepts — the chain</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10972800" cy="4572000"/>
          </a:xfrm>
          <a:prstGeom prst="rect">
            <a:avLst/>
          </a:prstGeom>
          <a:noFill/>
        </p:spPr>
        <p:txBody>
          <a:bodyPr wrap="square">
            <a:spAutoFit/>
          </a:bodyPr>
          <a:lstStyle/>
          <a:p>
            <a:pPr>
              <a:spcBef>
                <a:spcPts val="0"/>
              </a:spcBef>
              <a:spcAft>
                <a:spcPts val="1000"/>
              </a:spcAft>
            </a:pPr>
            <a:r>
              <a:rPr sz="1600">
                <a:solidFill>
                  <a:srgbClr val="7C6CFF"/>
                </a:solidFill>
                <a:latin typeface="Calibri"/>
              </a:rPr>
              <a:t>▸  </a:t>
            </a:r>
            <a:r>
              <a:rPr sz="1600" b="1">
                <a:solidFill>
                  <a:srgbClr val="22D3EE"/>
                </a:solidFill>
                <a:latin typeface="Calibri"/>
              </a:rPr>
              <a:t>Privacy paradox</a:t>
            </a:r>
            <a:r>
              <a:rPr sz="1600" b="0">
                <a:solidFill>
                  <a:srgbClr val="E7ECF3"/>
                </a:solidFill>
                <a:latin typeface="Calibri"/>
              </a:rPr>
              <a:t> — say ≠ do</a:t>
            </a:r>
          </a:p>
          <a:p>
            <a:pPr>
              <a:spcBef>
                <a:spcPts val="0"/>
              </a:spcBef>
              <a:spcAft>
                <a:spcPts val="1000"/>
              </a:spcAft>
            </a:pPr>
            <a:r>
              <a:rPr sz="1600">
                <a:solidFill>
                  <a:srgbClr val="7C6CFF"/>
                </a:solidFill>
                <a:latin typeface="Calibri"/>
              </a:rPr>
              <a:t>▸  </a:t>
            </a:r>
            <a:r>
              <a:rPr sz="1600" b="1">
                <a:solidFill>
                  <a:srgbClr val="22D3EE"/>
                </a:solidFill>
                <a:latin typeface="Calibri"/>
              </a:rPr>
              <a:t>Learned helplessness / privacy fatigue</a:t>
            </a:r>
            <a:r>
              <a:rPr sz="1600" b="0">
                <a:solidFill>
                  <a:srgbClr val="E7ECF3"/>
                </a:solidFill>
                <a:latin typeface="Calibri"/>
              </a:rPr>
              <a:t> — repeated invasion + no recourse → give up (explains the day-10 drop)</a:t>
            </a:r>
          </a:p>
          <a:p>
            <a:pPr>
              <a:spcBef>
                <a:spcPts val="0"/>
              </a:spcBef>
              <a:spcAft>
                <a:spcPts val="1000"/>
              </a:spcAft>
            </a:pPr>
            <a:r>
              <a:rPr sz="1600">
                <a:solidFill>
                  <a:srgbClr val="7C6CFF"/>
                </a:solidFill>
                <a:latin typeface="Calibri"/>
              </a:rPr>
              <a:t>▸  </a:t>
            </a:r>
            <a:r>
              <a:rPr sz="1600" b="1">
                <a:solidFill>
                  <a:srgbClr val="22D3EE"/>
                </a:solidFill>
                <a:latin typeface="Calibri"/>
              </a:rPr>
              <a:t>Information asymmetry</a:t>
            </a:r>
            <a:r>
              <a:rPr sz="1600" b="0">
                <a:solidFill>
                  <a:srgbClr val="E7ECF3"/>
                </a:solidFill>
                <a:latin typeface="Calibri"/>
              </a:rPr>
              <a:t> — providers know far more; the frequency number narrows it</a:t>
            </a:r>
          </a:p>
          <a:p>
            <a:pPr>
              <a:spcBef>
                <a:spcPts val="0"/>
              </a:spcBef>
              <a:spcAft>
                <a:spcPts val="1000"/>
              </a:spcAft>
            </a:pPr>
            <a:r>
              <a:rPr sz="1600">
                <a:solidFill>
                  <a:srgbClr val="7C6CFF"/>
                </a:solidFill>
                <a:latin typeface="Calibri"/>
              </a:rPr>
              <a:t>▸  </a:t>
            </a:r>
            <a:r>
              <a:rPr sz="1600" b="1">
                <a:solidFill>
                  <a:srgbClr val="22D3EE"/>
                </a:solidFill>
                <a:latin typeface="Calibri"/>
              </a:rPr>
              <a:t>Altman's regulation</a:t>
            </a:r>
            <a:r>
              <a:rPr sz="1600" b="0">
                <a:solidFill>
                  <a:srgbClr val="E7ECF3"/>
                </a:solidFill>
                <a:latin typeface="Calibri"/>
              </a:rPr>
              <a:t> — privacy is a *process* of adjusting access (a door, not a wall)</a:t>
            </a:r>
          </a:p>
          <a:p>
            <a:pPr>
              <a:spcBef>
                <a:spcPts val="0"/>
              </a:spcBef>
              <a:spcAft>
                <a:spcPts val="1000"/>
              </a:spcAft>
            </a:pPr>
            <a:r>
              <a:rPr sz="1600">
                <a:solidFill>
                  <a:srgbClr val="7C6CFF"/>
                </a:solidFill>
                <a:latin typeface="Calibri"/>
              </a:rPr>
              <a:t>▸  </a:t>
            </a:r>
            <a:r>
              <a:rPr sz="1600" b="1">
                <a:solidFill>
                  <a:srgbClr val="22D3EE"/>
                </a:solidFill>
                <a:latin typeface="Calibri"/>
              </a:rPr>
              <a:t>Nudge → soft-paternalism → enhanced active choice</a:t>
            </a:r>
            <a:r>
              <a:rPr sz="1600" b="0">
                <a:solidFill>
                  <a:srgbClr val="E7ECF3"/>
                </a:solidFill>
                <a:latin typeface="Calibri"/>
              </a:rPr>
              <a:t> — push, but keep the choice; warn against </a:t>
            </a:r>
            <a:r>
              <a:rPr sz="1600" b="1">
                <a:solidFill>
                  <a:srgbClr val="22D3EE"/>
                </a:solidFill>
                <a:latin typeface="Calibri"/>
              </a:rPr>
              <a:t>dark patterns</a:t>
            </a:r>
          </a:p>
          <a:p>
            <a:pPr>
              <a:spcBef>
                <a:spcPts val="0"/>
              </a:spcBef>
              <a:spcAft>
                <a:spcPts val="1000"/>
              </a:spcAft>
            </a:pPr>
            <a:r>
              <a:rPr sz="1600">
                <a:solidFill>
                  <a:srgbClr val="7C6CFF"/>
                </a:solidFill>
                <a:latin typeface="Calibri"/>
              </a:rPr>
              <a:t>▸  </a:t>
            </a:r>
            <a:r>
              <a:rPr sz="1600" b="1">
                <a:solidFill>
                  <a:srgbClr val="22D3EE"/>
                </a:solidFill>
                <a:latin typeface="Calibri"/>
              </a:rPr>
              <a:t>Leakiness</a:t>
            </a:r>
            <a:r>
              <a:rPr sz="1600" b="0">
                <a:solidFill>
                  <a:srgbClr val="E7ECF3"/>
                </a:solidFill>
                <a:latin typeface="Calibri"/>
              </a:rPr>
              <a:t> (data leaks out) vs </a:t>
            </a:r>
            <a:r>
              <a:rPr sz="1600" b="1">
                <a:solidFill>
                  <a:srgbClr val="22D3EE"/>
                </a:solidFill>
                <a:latin typeface="Calibri"/>
              </a:rPr>
              <a:t>creepiness</a:t>
            </a:r>
            <a:r>
              <a:rPr sz="1600" b="0">
                <a:solidFill>
                  <a:srgbClr val="E7ECF3"/>
                </a:solidFill>
                <a:latin typeface="Calibri"/>
              </a:rPr>
              <a:t> (the felt intrusion) — Shklovski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square">
            <a:spAutoFit/>
          </a:bodyPr>
          <a:lstStyle/>
          <a:p>
            <a:r>
              <a:rPr sz="900">
                <a:solidFill>
                  <a:srgbClr val="778295"/>
                </a:solidFill>
                <a:latin typeface="Calibri"/>
              </a:rPr>
              <a:t>Almuhimedi et al. (CHI 2015) — Mobile App Privacy Nudging</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15</a:t>
            </a:r>
          </a:p>
        </p:txBody>
      </p:sp>
      <p:sp>
        <p:nvSpPr>
          <p:cNvPr id="5" name="TextBox 4"/>
          <p:cNvSpPr txBox="1"/>
          <p:nvPr/>
        </p:nvSpPr>
        <p:spPr>
          <a:xfrm>
            <a:off x="502920" y="411480"/>
            <a:ext cx="11247120" cy="1005840"/>
          </a:xfrm>
          <a:prstGeom prst="rect">
            <a:avLst/>
          </a:prstGeom>
          <a:noFill/>
        </p:spPr>
        <p:txBody>
          <a:bodyPr wrap="square">
            <a:spAutoFit/>
          </a:bodyPr>
          <a:lstStyle/>
          <a:p>
            <a:r>
              <a:rPr sz="3000" b="1">
                <a:solidFill>
                  <a:srgbClr val="E7ECF3"/>
                </a:solidFill>
                <a:latin typeface="Calibri"/>
              </a:rPr>
              <a:t>Q&amp;A quick-fire — 7 themes</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45920"/>
            <a:ext cx="10972800" cy="4572000"/>
          </a:xfrm>
          <a:prstGeom prst="rect">
            <a:avLst/>
          </a:prstGeom>
          <a:noFill/>
        </p:spPr>
        <p:txBody>
          <a:bodyPr wrap="square">
            <a:spAutoFit/>
          </a:bodyPr>
          <a:lstStyle/>
          <a:p>
            <a:pPr>
              <a:spcBef>
                <a:spcPts val="0"/>
              </a:spcBef>
              <a:spcAft>
                <a:spcPts val="800"/>
              </a:spcAft>
            </a:pPr>
            <a:r>
              <a:rPr sz="1450">
                <a:solidFill>
                  <a:srgbClr val="7C6CFF"/>
                </a:solidFill>
                <a:latin typeface="Calibri"/>
              </a:rPr>
              <a:t>▸  </a:t>
            </a:r>
            <a:r>
              <a:rPr sz="1450" b="1">
                <a:solidFill>
                  <a:srgbClr val="22D3EE"/>
                </a:solidFill>
                <a:latin typeface="Calibri"/>
              </a:rPr>
              <a:t>Mobile challenges:</a:t>
            </a:r>
            <a:r>
              <a:rPr sz="1450" b="0">
                <a:solidFill>
                  <a:srgbClr val="E7ECF3"/>
                </a:solidFill>
                <a:latin typeface="Calibri"/>
              </a:rPr>
              <a:t> handles variable contexts, interruptions, discoverability; ignores task context &amp; situational impairment</a:t>
            </a:r>
          </a:p>
          <a:p>
            <a:pPr>
              <a:spcBef>
                <a:spcPts val="0"/>
              </a:spcBef>
              <a:spcAft>
                <a:spcPts val="800"/>
              </a:spcAft>
            </a:pPr>
            <a:r>
              <a:rPr sz="1450">
                <a:solidFill>
                  <a:srgbClr val="7C6CFF"/>
                </a:solidFill>
                <a:latin typeface="Calibri"/>
              </a:rPr>
              <a:t>▸  </a:t>
            </a:r>
            <a:r>
              <a:rPr sz="1450" b="1">
                <a:solidFill>
                  <a:srgbClr val="22D3EE"/>
                </a:solidFill>
                <a:latin typeface="Calibri"/>
              </a:rPr>
              <a:t>Design principles:</a:t>
            </a:r>
            <a:r>
              <a:rPr sz="1450" b="0">
                <a:solidFill>
                  <a:srgbClr val="E7ECF3"/>
                </a:solidFill>
                <a:latin typeface="Calibri"/>
              </a:rPr>
              <a:t> lead with </a:t>
            </a:r>
            <a:r>
              <a:rPr sz="1450" b="1">
                <a:solidFill>
                  <a:srgbClr val="22D3EE"/>
                </a:solidFill>
                <a:latin typeface="Calibri"/>
              </a:rPr>
              <a:t>reification</a:t>
            </a:r>
            <a:r>
              <a:rPr sz="1450" b="0">
                <a:solidFill>
                  <a:srgbClr val="E7ECF3"/>
                </a:solidFill>
                <a:latin typeface="Calibri"/>
              </a:rPr>
              <a:t> (abstract → tappable card); main heuristic = visibility of system status; + feedforward</a:t>
            </a:r>
          </a:p>
          <a:p>
            <a:pPr>
              <a:spcBef>
                <a:spcPts val="0"/>
              </a:spcBef>
              <a:spcAft>
                <a:spcPts val="800"/>
              </a:spcAft>
            </a:pPr>
            <a:r>
              <a:rPr sz="1450">
                <a:solidFill>
                  <a:srgbClr val="7C6CFF"/>
                </a:solidFill>
                <a:latin typeface="Calibri"/>
              </a:rPr>
              <a:t>▸  </a:t>
            </a:r>
            <a:r>
              <a:rPr sz="1450" b="1">
                <a:solidFill>
                  <a:srgbClr val="22D3EE"/>
                </a:solidFill>
                <a:latin typeface="Calibri"/>
              </a:rPr>
              <a:t>Modalities:</a:t>
            </a:r>
            <a:r>
              <a:rPr sz="1450" b="0">
                <a:solidFill>
                  <a:srgbClr val="E7ECF3"/>
                </a:solidFill>
                <a:latin typeface="Calibri"/>
              </a:rPr>
              <a:t> visual full-screen + single tap; fails under situational impairment; PrivacyMoment adds haptic + context sensing</a:t>
            </a:r>
          </a:p>
          <a:p>
            <a:pPr>
              <a:spcBef>
                <a:spcPts val="0"/>
              </a:spcBef>
              <a:spcAft>
                <a:spcPts val="800"/>
              </a:spcAft>
            </a:pPr>
            <a:r>
              <a:rPr sz="1450">
                <a:solidFill>
                  <a:srgbClr val="7C6CFF"/>
                </a:solidFill>
                <a:latin typeface="Calibri"/>
              </a:rPr>
              <a:t>▸  </a:t>
            </a:r>
            <a:r>
              <a:rPr sz="1450" b="1">
                <a:solidFill>
                  <a:srgbClr val="22D3EE"/>
                </a:solidFill>
                <a:latin typeface="Calibri"/>
              </a:rPr>
              <a:t>Interaction qualities:</a:t>
            </a:r>
            <a:r>
              <a:rPr sz="1450" b="0">
                <a:solidFill>
                  <a:srgbClr val="E7ECF3"/>
                </a:solidFill>
                <a:latin typeface="Calibri"/>
              </a:rPr>
              <a:t> improves </a:t>
            </a:r>
            <a:r>
              <a:rPr sz="1450" b="1">
                <a:solidFill>
                  <a:srgbClr val="22D3EE"/>
                </a:solidFill>
                <a:latin typeface="Calibri"/>
              </a:rPr>
              <a:t>discoverability</a:t>
            </a:r>
            <a:r>
              <a:rPr sz="1450" b="0">
                <a:solidFill>
                  <a:srgbClr val="E7ECF3"/>
                </a:solidFill>
                <a:latin typeface="Calibri"/>
              </a:rPr>
              <a:t>; neglects </a:t>
            </a:r>
            <a:r>
              <a:rPr sz="1450" b="1">
                <a:solidFill>
                  <a:srgbClr val="22D3EE"/>
                </a:solidFill>
                <a:latin typeface="Calibri"/>
              </a:rPr>
              <a:t>expressiveness</a:t>
            </a:r>
            <a:r>
              <a:rPr sz="1450" b="0">
                <a:solidFill>
                  <a:srgbClr val="E7ECF3"/>
                </a:solidFill>
                <a:latin typeface="Calibri"/>
              </a:rPr>
              <a:t> (narrow tap input)</a:t>
            </a:r>
          </a:p>
          <a:p>
            <a:pPr>
              <a:spcBef>
                <a:spcPts val="0"/>
              </a:spcBef>
              <a:spcAft>
                <a:spcPts val="800"/>
              </a:spcAft>
            </a:pPr>
            <a:r>
              <a:rPr sz="1450">
                <a:solidFill>
                  <a:srgbClr val="7C6CFF"/>
                </a:solidFill>
                <a:latin typeface="Calibri"/>
              </a:rPr>
              <a:t>▸  </a:t>
            </a:r>
            <a:r>
              <a:rPr sz="1450" b="1">
                <a:solidFill>
                  <a:srgbClr val="22D3EE"/>
                </a:solidFill>
                <a:latin typeface="Calibri"/>
              </a:rPr>
              <a:t>Context of use:</a:t>
            </a:r>
            <a:r>
              <a:rPr sz="1450" b="0">
                <a:solidFill>
                  <a:srgbClr val="E7ECF3"/>
                </a:solidFill>
                <a:latin typeface="Calibri"/>
              </a:rPr>
              <a:t> good on technical/social, bad on temporal/task → the PrivacyMoment gap</a:t>
            </a:r>
          </a:p>
          <a:p>
            <a:pPr>
              <a:spcBef>
                <a:spcPts val="0"/>
              </a:spcBef>
              <a:spcAft>
                <a:spcPts val="800"/>
              </a:spcAft>
            </a:pPr>
            <a:r>
              <a:rPr sz="1450">
                <a:solidFill>
                  <a:srgbClr val="7C6CFF"/>
                </a:solidFill>
                <a:latin typeface="Calibri"/>
              </a:rPr>
              <a:t>▸  </a:t>
            </a:r>
            <a:r>
              <a:rPr sz="1450" b="1">
                <a:solidFill>
                  <a:srgbClr val="22D3EE"/>
                </a:solidFill>
                <a:latin typeface="Calibri"/>
              </a:rPr>
              <a:t>Data &amp; methods:</a:t>
            </a:r>
            <a:r>
              <a:rPr sz="1450" b="0">
                <a:solidFill>
                  <a:srgbClr val="E7ECF3"/>
                </a:solidFill>
                <a:latin typeface="Calibri"/>
              </a:rPr>
              <a:t> mixed; observed-behavioral spine + attitudinal Likert; non-parametric correct</a:t>
            </a:r>
          </a:p>
          <a:p>
            <a:pPr>
              <a:spcBef>
                <a:spcPts val="0"/>
              </a:spcBef>
              <a:spcAft>
                <a:spcPts val="800"/>
              </a:spcAft>
            </a:pPr>
            <a:r>
              <a:rPr sz="1450">
                <a:solidFill>
                  <a:srgbClr val="7C6CFF"/>
                </a:solidFill>
                <a:latin typeface="Calibri"/>
              </a:rPr>
              <a:t>▸  </a:t>
            </a:r>
            <a:r>
              <a:rPr sz="1450" b="1">
                <a:solidFill>
                  <a:srgbClr val="22D3EE"/>
                </a:solidFill>
                <a:latin typeface="Calibri"/>
              </a:rPr>
              <a:t>My study design:</a:t>
            </a:r>
            <a:r>
              <a:rPr sz="1450" b="0">
                <a:solidFill>
                  <a:srgbClr val="E7ECF3"/>
                </a:solidFill>
                <a:latin typeface="Calibri"/>
              </a:rPr>
              <a:t> longitudinal between-subjects field experiment; Mann-Whitney U + effect size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